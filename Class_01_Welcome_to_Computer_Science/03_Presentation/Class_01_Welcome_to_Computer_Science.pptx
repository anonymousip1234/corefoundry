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Set tone: welcoming, premium, unhurried.</a:t>
            </a:r>
          </a:p>
          <a:p>
            <a:r>
              <a:t>Say: Introduce yourself briefly; do not read the slide aloud.</a:t>
            </a:r>
          </a:p>
          <a:p>
            <a:r>
              <a:t>Board: None.</a:t>
            </a:r>
          </a:p>
          <a:p>
            <a:r>
              <a:t>Transition: How many of you used a smartphone today?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</a:t>
            </a:r>
          </a:p>
          <a:p>
            <a:r>
              <a:t>TIME: 3 min</a:t>
            </a:r>
          </a:p>
          <a:p>
            <a:r>
              <a:t>Purpose: Start conversation; do not answer this on-slide.</a:t>
            </a:r>
          </a:p>
          <a:p>
            <a:r>
              <a:t>Ask: How many of you used a smartphone / a computer today? Who knows what happens inside when you press a button?</a:t>
            </a:r>
          </a:p>
          <a:p>
            <a:r>
              <a:t>Expected: Broad hand-raise participation, not verbal answers yet.</a:t>
            </a:r>
          </a:p>
          <a:p>
            <a:r>
              <a:t>Board: None.</a:t>
            </a:r>
          </a:p>
          <a:p>
            <a:r>
              <a:t>Transition: We're going to start understanding that today. What is Computer Science?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[LET STUDENTS ANSWER] [DISCUSS]</a:t>
            </a:r>
          </a:p>
          <a:p>
            <a:r>
              <a:t>TIME: 5 min</a:t>
            </a:r>
          </a:p>
          <a:p>
            <a:r>
              <a:t>Purpose: Surface students' existing mental model before correcting it (Question Bank Q1.2).</a:t>
            </a:r>
          </a:p>
          <a:p>
            <a:r>
              <a:t>Ask: What is Computer Science?</a:t>
            </a:r>
          </a:p>
          <a:p>
            <a:r>
              <a:t>Expected: Coding, programming, computers, AI, software — collect 3–5 answers without judgment.</a:t>
            </a:r>
          </a:p>
          <a:p>
            <a:r>
              <a:t>Board: None yet — answers feed the live CS map next.</a:t>
            </a:r>
          </a:p>
          <a:p>
            <a:r>
              <a:t>Transition: Let's use exactly what you just said to build a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[DISCUSS]</a:t>
            </a:r>
          </a:p>
          <a:p>
            <a:r>
              <a:t>TIME: 2 min</a:t>
            </a:r>
          </a:p>
          <a:p>
            <a:r>
              <a:t>Purpose: State the reframe plainly after the opening discussion (Guide §5.2).</a:t>
            </a:r>
          </a:p>
          <a:p>
            <a:r>
              <a:t>Say: You were all partly right — you each named one room in a bigger building.</a:t>
            </a:r>
          </a:p>
          <a:p>
            <a:r>
              <a:t>Board: None.</a:t>
            </a:r>
          </a:p>
          <a:p>
            <a:r>
              <a:t>Transition: Let's see the whole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 BOARD]</a:t>
            </a:r>
          </a:p>
          <a:p>
            <a:r>
              <a:t>TIME: 8 min (Board Plan Drawing 1, ~9–17 min)</a:t>
            </a:r>
          </a:p>
          <a:p>
            <a:r>
              <a:t>Purpose: This is the CLEAN REFERENCE version only. The instructor draws this map live on the pen tablet, built from students' own opening answers — do not present this slide before the live drawing.</a:t>
            </a:r>
          </a:p>
          <a:p>
            <a:r>
              <a:t>Say: You said coding, AI, software — all of you were right, you each named one room in a bigger building.</a:t>
            </a:r>
          </a:p>
          <a:p>
            <a:r>
              <a:t>Board: LIVE BOARD — instructor draws the CS map (Board Plan Drawing 1). Show this slide only after the live drawing is complete, as a clean callback.</a:t>
            </a:r>
          </a:p>
          <a:p>
            <a:r>
              <a:t>Transition: Now that we've mapped the field, let's zoom into one question: how does a computer actually solve something?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[LET STUDENTS ANSWER]</a:t>
            </a:r>
          </a:p>
          <a:p>
            <a:r>
              <a:t>TIME: 2 min</a:t>
            </a:r>
          </a:p>
          <a:p>
            <a:r>
              <a:t>Purpose: Make the CS map personally relevant (Question Bank Q2.1).</a:t>
            </a:r>
          </a:p>
          <a:p>
            <a:r>
              <a:t>Ask: Which of these have you touched without realizing it was Computer Science?</a:t>
            </a:r>
          </a:p>
          <a:p>
            <a:r>
              <a:t>Expected: Using an app, playing a game, connecting to Wi-Fi.</a:t>
            </a:r>
          </a:p>
          <a:p>
            <a:r>
              <a:t>Board: Map stays visible if convenient.</a:t>
            </a:r>
          </a:p>
          <a:p>
            <a:r>
              <a:t>Transition: So which one of these boxes is programming?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[DISCUSS]</a:t>
            </a:r>
          </a:p>
          <a:p>
            <a:r>
              <a:t>TIME: 3 min (optional — cut first under time pressure, Guide §4.3)</a:t>
            </a:r>
          </a:p>
          <a:p>
            <a:r>
              <a:t>Purpose: Show a 'simple' action hides real computing concepts — motivates why CS is worth studying (Guide §5.3).</a:t>
            </a:r>
          </a:p>
          <a:p>
            <a:r>
              <a:t>Say: This is a simplified conceptual model, not the real architecture — we are not doing networking today.</a:t>
            </a:r>
          </a:p>
          <a:p>
            <a:r>
              <a:t>Board: None (optional quick trace on board if energy is high).</a:t>
            </a:r>
          </a:p>
          <a:p>
            <a:r>
              <a:t>Transition: Let's get precise vocabulary for three of those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</a:t>
            </a:r>
          </a:p>
          <a:p>
            <a:r>
              <a:t>Purpose: Give precise, reusable vocabulary (Guide §5.4).</a:t>
            </a:r>
          </a:p>
          <a:p>
            <a:r>
              <a:t>Say: Examples: calculator, browser, game, messaging app, AI chatbot — for each, ask 'program, application, or both?'</a:t>
            </a:r>
          </a:p>
          <a:p>
            <a:r>
              <a:t>Board: None — this block is intentionally a slide reference, not a live drawing.</a:t>
            </a:r>
          </a:p>
          <a:p>
            <a:r>
              <a:t>Transition: Let's test that with 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[LET STUDENTS ANSWER]</a:t>
            </a:r>
          </a:p>
          <a:p>
            <a:r>
              <a:t>TIME: 2 min</a:t>
            </a:r>
          </a:p>
          <a:p>
            <a:r>
              <a:t>Purpose: Test program vs. application distinction (Question Bank Q3.1).</a:t>
            </a:r>
          </a:p>
          <a:p>
            <a:r>
              <a:t>Ask: A calculator app is a program, an application, or both?</a:t>
            </a:r>
          </a:p>
          <a:p>
            <a:r>
              <a:t>Expected: 'Both' — confirm and explain why: program is the instructions, application is the packaged, useful version for a user.</a:t>
            </a:r>
          </a:p>
          <a:p>
            <a:r>
              <a:t>Board: None.</a:t>
            </a:r>
          </a:p>
          <a:p>
            <a:r>
              <a:t>Transition: That 'Process' box was a mystery box. Let's open the idea of Input → Process →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 BOARD]</a:t>
            </a:r>
          </a:p>
          <a:p>
            <a:r>
              <a:t>TIME: 6 min (Board Plan Drawing 2, ~33–39 min)</a:t>
            </a:r>
          </a:p>
          <a:p>
            <a:r>
              <a:t>Purpose: Simple mental model for how computers solve problems (Guide §5.5). Clean reference only — instructor builds this live, box by box.</a:t>
            </a:r>
          </a:p>
          <a:p>
            <a:r>
              <a:t>Say: Process stays a black box today — on purpose. Real systems can be far more complex than three boxes.</a:t>
            </a:r>
          </a:p>
          <a:p>
            <a:r>
              <a:t>Board: LIVE BOARD — instructor draws Drawing 2. Show this slide only after the live drawing.</a:t>
            </a:r>
          </a:p>
          <a:p>
            <a:r>
              <a:t>Transition: Now find your own example, in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[PAUSE]</a:t>
            </a:r>
          </a:p>
          <a:p>
            <a:r>
              <a:t>TIME: 4 min (Activities §2, Activity 2)</a:t>
            </a:r>
          </a:p>
          <a:p>
            <a:r>
              <a:t>Purpose: Move students from recognizing I-P-O in a given example to generating their own.</a:t>
            </a:r>
          </a:p>
          <a:p>
            <a:r>
              <a:t>Say: With the person next to you, come up with your own example — not the calculator or your phone unlocking.</a:t>
            </a:r>
          </a:p>
          <a:p>
            <a:r>
              <a:t>Expected: A coherent input/process/output triple; cold-call 2–3 pairs afterward.</a:t>
            </a:r>
          </a:p>
          <a:p>
            <a:r>
              <a:t>Board: None.</a:t>
            </a:r>
          </a:p>
          <a:p>
            <a:r>
              <a:t>Transition: Giving a computer instructions to fill that Process box is called programming — and it starts with a bigger chain than three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[PAUSE] [DO NOT EXPLAIN YET]</a:t>
            </a:r>
          </a:p>
          <a:p>
            <a:r>
              <a:t>TIME: 1 min</a:t>
            </a:r>
          </a:p>
          <a:p>
            <a:r>
              <a:t>Purpose: Open the most important idea of the class without answering it yet.</a:t>
            </a:r>
          </a:p>
          <a:p>
            <a:r>
              <a:t>Say: No answer yet — let it sit for a moment.</a:t>
            </a:r>
          </a:p>
          <a:p>
            <a:r>
              <a:t>Board: None.</a:t>
            </a:r>
          </a:p>
          <a:p>
            <a:r>
              <a:t>Transition: Everything starts with a real problem. Give me one —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 BOARD] [ASK]</a:t>
            </a:r>
          </a:p>
          <a:p>
            <a:r>
              <a:t>TIME: 13 min (Board Plan Drawing 3, ~43–56 min) — PROTECTED, never compressed</a:t>
            </a:r>
          </a:p>
          <a:p>
            <a:r>
              <a:t>Purpose: This slide only anchors the starting word. The instructor builds LOGIC → ALGORITHM → PROGRAM → RESULT live on the pen tablet, one box at a time, each earned by a question (Board Plan Drawing 3, Stages 1–9).</a:t>
            </a:r>
          </a:p>
          <a:p>
            <a:r>
              <a:t>Ask: Before I touch a computer, what's the very first thing I have to do?</a:t>
            </a:r>
          </a:p>
          <a:p>
            <a:r>
              <a:t>Board: LIVE BOARD — the single most important diagram of the class. Blank canvas otherwise.</a:t>
            </a:r>
          </a:p>
          <a:p>
            <a:r>
              <a:t>Transition: (after the full chain is built) This one goes in your notes — we'll refer back to it all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(shown at the end of the live build)</a:t>
            </a:r>
          </a:p>
          <a:p>
            <a:r>
              <a:t>Purpose: Clean callback of the class's most important diagram — also kept visible during the final recap (Board Plan §12).</a:t>
            </a:r>
          </a:p>
          <a:p>
            <a:r>
              <a:t>Board: Matches the finished pen-tablet drawing exactly.</a:t>
            </a:r>
          </a:p>
          <a:p>
            <a:r>
              <a:t>Transition: This is still just words on a board — how do we find the larger number?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[LET STUDENTS ANSWER]</a:t>
            </a:r>
          </a:p>
          <a:p>
            <a:r>
              <a:t>TIME: (nested inside the 13-min pipeline segment)</a:t>
            </a:r>
          </a:p>
          <a:p>
            <a:r>
              <a:t>Purpose: Students construct the algorithm themselves, live (Activities §4, Activity 4).</a:t>
            </a:r>
          </a:p>
          <a:p>
            <a:r>
              <a:t>Ask: Given A=15, B=21, how would you find the larger one?</a:t>
            </a:r>
          </a:p>
          <a:p>
            <a:r>
              <a:t>Expected: 'Compare them', 'check which is bigger' — press for the method, not just the answer (21).</a:t>
            </a:r>
          </a:p>
          <a:p>
            <a:r>
              <a:t>Board: LIVE BOARD — steps written under the ALGORITHM box of Drawing 3.</a:t>
            </a:r>
          </a:p>
          <a:p>
            <a:r>
              <a:t>Transition: Let's see the finished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</a:t>
            </a:r>
          </a:p>
          <a:p>
            <a:r>
              <a:t>Purpose: Clean final version, shown only after the class has built it themselves (Guide §5.6).</a:t>
            </a:r>
          </a:p>
          <a:p>
            <a:r>
              <a:t>Say: Notice it doesn't mention any programming language at all.</a:t>
            </a:r>
          </a:p>
          <a:p>
            <a:r>
              <a:t>Board: Matches the live-built version.</a:t>
            </a:r>
          </a:p>
          <a:p>
            <a:r>
              <a:t>Transition: Is an algorithm the same thing as a program?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3 min</a:t>
            </a:r>
          </a:p>
          <a:p>
            <a:r>
              <a:t>Purpose: Cement the single most important distinction of the class (Guide §5.6).</a:t>
            </a:r>
          </a:p>
          <a:p>
            <a:r>
              <a:t>Ask: Could two different languages implement the exact same algorithm?</a:t>
            </a:r>
          </a:p>
          <a:p>
            <a:r>
              <a:t>Expected: Yes — the steps don't change, only the language does.</a:t>
            </a:r>
          </a:p>
          <a:p>
            <a:r>
              <a:t>Board: Two-word note (“recipe/dish”) jotted next to Drawing 3, Stage 9 (optional).</a:t>
            </a:r>
          </a:p>
          <a:p>
            <a:r>
              <a:t>Transition: Before you can turn a problem into an algorithm, you need a certain way of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 BOARD] [ASK]</a:t>
            </a:r>
          </a:p>
          <a:p>
            <a:r>
              <a:t>TIME: 8 min (Board Plan Drawing 4, ~59–67 min)</a:t>
            </a:r>
          </a:p>
          <a:p>
            <a:r>
              <a:t>Purpose: Four thinking habits, filled in one quadrant at a time from a question — not a definitions list (Guide §5.7).</a:t>
            </a:r>
          </a:p>
          <a:p>
            <a:r>
              <a:t>Board: LIVE BOARD — instructor fills each quadrant live, question first, then word + one-line example.</a:t>
            </a:r>
          </a:p>
          <a:p>
            <a:r>
              <a:t>Transition: If I asked you to plan a birthday party, would you do it as one giant task?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[LET STUDENTS ANSWER]</a:t>
            </a:r>
          </a:p>
          <a:p>
            <a:r>
              <a:t>TIME: 2 min</a:t>
            </a:r>
          </a:p>
          <a:p>
            <a:r>
              <a:t>Purpose: Introduce Decomposition through a relatable example (Question Bank Q7.1).</a:t>
            </a:r>
          </a:p>
          <a:p>
            <a:r>
              <a:t>Expected: “Break it into pieces — invitations, food, venue.”</a:t>
            </a:r>
          </a:p>
          <a:p>
            <a:r>
              <a:t>Board: Feeds directly into Drawing 4's first quadrant.</a:t>
            </a:r>
          </a:p>
          <a:p>
            <a:r>
              <a:t>Transition: You already used all four of these today without realizing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[LIVE BOARD]</a:t>
            </a:r>
          </a:p>
          <a:p>
            <a:r>
              <a:t>TIME: 13–15 min — PROTECTED, never compressed</a:t>
            </a:r>
          </a:p>
          <a:p>
            <a:r>
              <a:t>Purpose: The emotional and pedagogical centerpiece of the class. Full run-of-show in 03_Tea_Activity_Facilitator_Guide.md — this slide deliberately shows nothing beyond the opening line so nothing is spoiled.</a:t>
            </a:r>
          </a:p>
          <a:p>
            <a:r>
              <a:t>Say: Imagine I am a computer. I will do exactly — and only — what you tell me, in the exact order you tell me.</a:t>
            </a:r>
          </a:p>
          <a:p>
            <a:r>
              <a:t>Board: Switch to camera / minimal screen for the activity itself — no slide or board needed.</a:t>
            </a:r>
          </a:p>
          <a:p>
            <a:r>
              <a:t>Transition: (after the activity) That gap between what you meant and what you actually said is exactly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The most memorable line of the class — say it once, plainly, don't paraphrase it longer.</a:t>
            </a:r>
          </a:p>
          <a:p>
            <a:r>
              <a:t>Board: None.</a:t>
            </a:r>
          </a:p>
          <a:p>
            <a:r>
              <a:t>Transition: That gap between what you meant and what you actually said is exactly what separates how we've been programming from something newer.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 BOARD]</a:t>
            </a:r>
          </a:p>
          <a:p>
            <a:r>
              <a:t>TIME: 4.5 min (Board Plan Drawing 5, ~86–90.5 min)</a:t>
            </a:r>
          </a:p>
          <a:p>
            <a:r>
              <a:t>Purpose: A light conceptual bridge — not an ML lecture (Guide §5.9). Clean reference only; instructor builds this live, row by row.</a:t>
            </a:r>
          </a:p>
          <a:p>
            <a:r>
              <a:t>Say: In traditional programming, a human writes the rules. In ML, rules are learned from data. In GenAI, a model generates new content from a prompt.</a:t>
            </a:r>
          </a:p>
          <a:p>
            <a:r>
              <a:t>Board: LIVE BOARD — instructor draws all three rows.</a:t>
            </a:r>
          </a:p>
          <a:p>
            <a:r>
              <a:t>Transition: Look at the left-most box in each row — what changed?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[LET STUDENTS ANSWER]</a:t>
            </a:r>
          </a:p>
          <a:p>
            <a:r>
              <a:t>TIME: 2 min</a:t>
            </a:r>
          </a:p>
          <a:p>
            <a:r>
              <a:t>Purpose: The core discovery question of Drawing 5 (Question Bank Q9.1).</a:t>
            </a:r>
          </a:p>
          <a:p>
            <a:r>
              <a:t>Ask: Look at the left-most box in each row. What changed, row by row?</a:t>
            </a:r>
          </a:p>
          <a:p>
            <a:r>
              <a:t>Expected: It goes from rules, to data, to a prompt.</a:t>
            </a:r>
          </a:p>
          <a:p>
            <a:r>
              <a:t>Board: Three rows stay visible.</a:t>
            </a:r>
          </a:p>
          <a:p>
            <a:r>
              <a:t>Transition: If ML and GenAI are newer branches, where do they come from? Let's build the whole staircase.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 BOARD]</a:t>
            </a:r>
          </a:p>
          <a:p>
            <a:r>
              <a:t>TIME: 4.5 min (Board Plan Drawing 6, ~90.5–95 min)</a:t>
            </a:r>
          </a:p>
          <a:p>
            <a:r>
              <a:t>Purpose: “We build the staircase, we don't jump to the top” — physical metaphor built live (Guide §5.9).</a:t>
            </a:r>
          </a:p>
          <a:p>
            <a:r>
              <a:t>Board: LIVE BOARD — instructor draws ascending steps; circles steps 1–2 in red.</a:t>
            </a:r>
          </a:p>
          <a:p>
            <a:r>
              <a:t>Transition: Why don't we start with AI Agents?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 [REVEAL]</a:t>
            </a:r>
          </a:p>
          <a:p>
            <a:r>
              <a:t>TIME: 2 min</a:t>
            </a:r>
          </a:p>
          <a:p>
            <a:r>
              <a:t>Purpose: Motivational but technically grounded close to the AI bridge section.</a:t>
            </a:r>
          </a:p>
          <a:p>
            <a:r>
              <a:t>Ask: Why don't we start with AI Agents?</a:t>
            </a:r>
          </a:p>
          <a:p>
            <a:r>
              <a:t>Board: None.</a:t>
            </a:r>
          </a:p>
          <a:p>
            <a:r>
              <a:t>Transition: Let's look at the actual four-month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7 min</a:t>
            </a:r>
          </a:p>
          <a:p>
            <a:r>
              <a:t>Purpose: Show why the program is sequenced this way, not list every topic (Guide §5.10).</a:t>
            </a:r>
          </a:p>
          <a:p>
            <a:r>
              <a:t>Say: Explain the reasoning: you can't build reliable AI systems on shaky programming fundamentals.</a:t>
            </a:r>
          </a:p>
          <a:p>
            <a:r>
              <a:t>Board: None.</a:t>
            </a:r>
          </a:p>
          <a:p>
            <a:r>
              <a:t>Transition: Let's check what stuck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(reference — pairs with the verbal recap)</a:t>
            </a:r>
          </a:p>
          <a:p>
            <a:r>
              <a:t>Purpose: Seven memorable statements, matching the Student Notes 'Remember These' section exactly.</a:t>
            </a:r>
          </a:p>
          <a:p>
            <a:r>
              <a:t>Board: None.</a:t>
            </a:r>
          </a:p>
          <a:p>
            <a:r>
              <a:t>Transition: Let's check what stuck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[LET STUDENTS ANSWER]</a:t>
            </a:r>
          </a:p>
          <a:p>
            <a:r>
              <a:t>TIME: 6–8 min (Guide §11, Exit Questions §06)</a:t>
            </a:r>
          </a:p>
          <a:p>
            <a:r>
              <a:t>Purpose: Test understanding, not memorization — accept answers in the student's own words.</a:t>
            </a:r>
          </a:p>
          <a:p>
            <a:r>
              <a:t>Board: Drawing 3 and the Staircase (Drawing 6) stay visible for reference (Board Plan §12).</a:t>
            </a:r>
          </a:p>
          <a:p>
            <a:r>
              <a:t>Transition: One last thing before you go — your first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Close the class with a clear, achievable task (Student Notes §Homework, Interaction Pack §06).</a:t>
            </a:r>
          </a:p>
          <a:p>
            <a:r>
              <a:t>Say: Full instructions, format, and a challenge version are in your Student Notes handout.</a:t>
            </a:r>
          </a:p>
          <a:p>
            <a:r>
              <a:t>Board: None.</a:t>
            </a:r>
          </a:p>
          <a:p>
            <a:r>
              <a:t>Transition: Class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965960"/>
            <a:ext cx="1097280" cy="54864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BONG STUDY HUB · FOUNDATION BATCH 2026 · CLASS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 b="1" i="0">
                <a:solidFill>
                  <a:srgbClr val="FFFFFF"/>
                </a:solidFill>
                <a:latin typeface="Aptos Display"/>
              </a:rPr>
              <a:t>Welcome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 b="1" i="0">
                <a:solidFill>
                  <a:srgbClr val="FFFFFF"/>
                </a:solidFill>
                <a:latin typeface="Aptos Display"/>
              </a:rPr>
              <a:t>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1">
                <a:solidFill>
                  <a:srgbClr val="B9CCEE"/>
                </a:solidFill>
                <a:latin typeface="Aptos"/>
              </a:rPr>
              <a:t>From Using Technology → Understanding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Bong Study Hub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Foundation Batch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4984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E3A72"/>
                </a:solidFill>
                <a:latin typeface="Aptos Display"/>
              </a:rPr>
              <a:t>How much of the technology you use every day</a:t>
            </a:r>
          </a:p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E3A72"/>
                </a:solidFill>
                <a:latin typeface="Aptos Display"/>
              </a:rPr>
              <a:t>do you actually understand?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5" name="Oval 4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4984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E3A72"/>
                </a:solidFill>
                <a:latin typeface="Aptos Display"/>
              </a:rPr>
              <a:t>What is</a:t>
            </a:r>
          </a:p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E3A72"/>
                </a:solidFill>
                <a:latin typeface="Aptos Display"/>
              </a:rPr>
              <a:t>Computer Science?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5" name="Oval 4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Computer Science ≠ Coding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ONE PART OF THE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F2733"/>
                </a:solidFill>
                <a:latin typeface="Aptos"/>
              </a:rPr>
              <a:t>Writing instructions in a programming language. Visible, popular — and only one skill inside 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8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4F9FB"/>
          </a:solidFill>
          <a:ln w="1587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8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THE WHOLE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8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Computer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8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F2733"/>
                </a:solidFill>
                <a:latin typeface="Aptos"/>
              </a:rPr>
              <a:t>Computation, information, algorithms, and problem solving — coding is one room in a much bigger building.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94680" y="3438144"/>
            <a:ext cx="312336" cy="0"/>
          </a:xfrm>
          <a:prstGeom prst="line">
            <a:avLst/>
          </a:prstGeom>
          <a:ln w="2540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6172016" y="335814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1528" y="2935224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 i="0">
                <a:solidFill>
                  <a:srgbClr val="647085"/>
                </a:solidFill>
                <a:latin typeface="Aptos"/>
              </a:rPr>
              <a:t>part 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17" name="Oval 16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The Computer Science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49928" y="2066544"/>
            <a:ext cx="3291840" cy="685800"/>
          </a:xfrm>
          <a:prstGeom prst="roundRect">
            <a:avLst>
              <a:gd name="adj" fmla="val 1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49928" y="2066544"/>
            <a:ext cx="3291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FFFF"/>
                </a:solidFill>
                <a:latin typeface="Aptos"/>
              </a:rPr>
              <a:t>COMPUTER SCIENCE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8" y="2752344"/>
            <a:ext cx="0" cy="182880"/>
          </a:xfrm>
          <a:prstGeom prst="line">
            <a:avLst/>
          </a:prstGeom>
          <a:ln w="15875">
            <a:solidFill>
              <a:srgbClr val="A7B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67229" y="2935224"/>
            <a:ext cx="7457237" cy="0"/>
          </a:xfrm>
          <a:prstGeom prst="line">
            <a:avLst/>
          </a:prstGeom>
          <a:ln w="15875">
            <a:solidFill>
              <a:srgbClr val="A7B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67229" y="2935224"/>
            <a:ext cx="0" cy="182880"/>
          </a:xfrm>
          <a:prstGeom prst="line">
            <a:avLst/>
          </a:prstGeom>
          <a:ln w="15875">
            <a:solidFill>
              <a:srgbClr val="A7B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8" y="2935224"/>
            <a:ext cx="0" cy="182880"/>
          </a:xfrm>
          <a:prstGeom prst="line">
            <a:avLst/>
          </a:prstGeom>
          <a:ln w="15875">
            <a:solidFill>
              <a:srgbClr val="A7B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24466" y="2935224"/>
            <a:ext cx="0" cy="182880"/>
          </a:xfrm>
          <a:prstGeom prst="line">
            <a:avLst/>
          </a:prstGeom>
          <a:ln w="15875">
            <a:solidFill>
              <a:srgbClr val="A7B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3118104"/>
            <a:ext cx="3454298" cy="7315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18104"/>
            <a:ext cx="327141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E3A72"/>
                </a:solidFill>
                <a:latin typeface="Aptos"/>
              </a:rPr>
              <a:t>Programming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8698" y="3118104"/>
            <a:ext cx="3454298" cy="7315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0138" y="3118104"/>
            <a:ext cx="327141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E3A72"/>
                </a:solidFill>
                <a:latin typeface="Aptos"/>
              </a:rPr>
              <a:t>Algorithms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7" y="3118104"/>
            <a:ext cx="3454298" cy="7315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8757" y="3118104"/>
            <a:ext cx="327141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E3A72"/>
                </a:solidFill>
                <a:latin typeface="Aptos"/>
              </a:rPr>
              <a:t>Data Structures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67229" y="3849624"/>
            <a:ext cx="0" cy="201168"/>
          </a:xfrm>
          <a:prstGeom prst="line">
            <a:avLst/>
          </a:prstGeom>
          <a:ln w="15875">
            <a:solidFill>
              <a:srgbClr val="A7B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4050792"/>
            <a:ext cx="3454298" cy="7315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50792"/>
            <a:ext cx="327141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E3A72"/>
                </a:solidFill>
                <a:latin typeface="Aptos"/>
              </a:rPr>
              <a:t>Operating Systems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5848" y="3849624"/>
            <a:ext cx="0" cy="201168"/>
          </a:xfrm>
          <a:prstGeom prst="line">
            <a:avLst/>
          </a:prstGeom>
          <a:ln w="15875">
            <a:solidFill>
              <a:srgbClr val="A7B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68698" y="4050792"/>
            <a:ext cx="3454298" cy="7315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0138" y="4050792"/>
            <a:ext cx="327141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E3A72"/>
                </a:solidFill>
                <a:latin typeface="Aptos"/>
              </a:rPr>
              <a:t>Databases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24466" y="3849624"/>
            <a:ext cx="0" cy="201168"/>
          </a:xfrm>
          <a:prstGeom prst="line">
            <a:avLst/>
          </a:prstGeom>
          <a:ln w="15875">
            <a:solidFill>
              <a:srgbClr val="A7B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097317" y="4050792"/>
            <a:ext cx="3454298" cy="7315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8757" y="4050792"/>
            <a:ext cx="327141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E3A72"/>
                </a:solidFill>
                <a:latin typeface="Aptos"/>
              </a:rPr>
              <a:t>Computer Networks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67229" y="4782312"/>
            <a:ext cx="0" cy="201168"/>
          </a:xfrm>
          <a:prstGeom prst="line">
            <a:avLst/>
          </a:prstGeom>
          <a:ln w="15875">
            <a:solidFill>
              <a:srgbClr val="A7B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0080" y="4983480"/>
            <a:ext cx="3454298" cy="7315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83480"/>
            <a:ext cx="327141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E3A72"/>
                </a:solidFill>
                <a:latin typeface="Aptos"/>
              </a:rPr>
              <a:t>Computer Architecture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5848" y="4782312"/>
            <a:ext cx="0" cy="201168"/>
          </a:xfrm>
          <a:prstGeom prst="line">
            <a:avLst/>
          </a:prstGeom>
          <a:ln w="15875">
            <a:solidFill>
              <a:srgbClr val="A7B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368698" y="4983480"/>
            <a:ext cx="3454298" cy="7315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0138" y="4983480"/>
            <a:ext cx="327141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E3A72"/>
                </a:solidFill>
                <a:latin typeface="Aptos"/>
              </a:rPr>
              <a:t>Security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24466" y="4782312"/>
            <a:ext cx="0" cy="201168"/>
          </a:xfrm>
          <a:prstGeom prst="line">
            <a:avLst/>
          </a:prstGeom>
          <a:ln w="15875">
            <a:solidFill>
              <a:srgbClr val="A7B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097317" y="4983480"/>
            <a:ext cx="3454298" cy="7315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8757" y="4983480"/>
            <a:ext cx="327141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E3A72"/>
                </a:solidFill>
                <a:latin typeface="Aptos"/>
              </a:rPr>
              <a:t>Artificial 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Clean reference — built live on the board first.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38" name="Oval 37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QUICK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4984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E3A72"/>
                </a:solidFill>
                <a:latin typeface="Aptos Display"/>
              </a:rPr>
              <a:t>What part of Computer Science</a:t>
            </a:r>
          </a:p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E3A72"/>
                </a:solidFill>
                <a:latin typeface="Aptos Display"/>
              </a:rPr>
              <a:t>have you already touched?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4632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Apps · Games · Internet · AI · Databases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6" name="Oval 5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What Happens When You Press a Button?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92728" y="1600200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92728" y="160020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User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095848" y="1973931"/>
            <a:ext cx="0" cy="229773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10800000">
            <a:off x="6015848" y="1938931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92728" y="2100507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2728" y="2100507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Device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095848" y="2474239"/>
            <a:ext cx="0" cy="229772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15848" y="243923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92728" y="2600815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92728" y="2600815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Application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95848" y="2974546"/>
            <a:ext cx="0" cy="229773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10800000">
            <a:off x="6015848" y="2939546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92728" y="3101122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92728" y="3101122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Network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95848" y="3474854"/>
            <a:ext cx="0" cy="229772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6015848" y="343985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92728" y="3601430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92728" y="360143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Server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095848" y="3975161"/>
            <a:ext cx="0" cy="229773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6015848" y="3940161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992728" y="4101737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2728" y="4101737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Database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6095848" y="4475469"/>
            <a:ext cx="0" cy="229772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0800000">
            <a:off x="6015848" y="444046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992728" y="4602045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92728" y="4602045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Response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095848" y="4975776"/>
            <a:ext cx="0" cy="229773"/>
          </a:xfrm>
          <a:prstGeom prst="line">
            <a:avLst/>
          </a:prstGeom>
          <a:ln w="1905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0800000">
            <a:off x="6015848" y="4940776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992728" y="5102352"/>
            <a:ext cx="4206240" cy="566928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92728" y="5102352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Device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A simplified mental model — not the real architecture.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36" name="Oval 35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Three Words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976372"/>
            <a:ext cx="339333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976372"/>
            <a:ext cx="3393338" cy="82296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42132"/>
            <a:ext cx="28446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1E3A72"/>
                </a:solidFill>
                <a:latin typeface="Aptos Display"/>
              </a:rPr>
              <a:t>Computer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73652"/>
            <a:ext cx="284469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F2733"/>
                </a:solidFill>
                <a:latin typeface="Aptos"/>
              </a:rPr>
              <a:t>A machine capable of executing instructions.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976372"/>
            <a:ext cx="339333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2976372"/>
            <a:ext cx="3393338" cy="82296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498" y="3342132"/>
            <a:ext cx="28446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1E3A72"/>
                </a:solidFill>
                <a:latin typeface="Aptos Display"/>
              </a:rPr>
              <a:t>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4073652"/>
            <a:ext cx="284469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F2733"/>
                </a:solidFill>
                <a:latin typeface="Aptos"/>
              </a:rPr>
              <a:t>A sequence of instructions a computer can execute.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7" y="2976372"/>
            <a:ext cx="339333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58277" y="2976372"/>
            <a:ext cx="3393338" cy="82296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2597" y="3342132"/>
            <a:ext cx="28446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1E3A72"/>
                </a:solidFill>
                <a:latin typeface="Aptos Display"/>
              </a:rP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597" y="4073652"/>
            <a:ext cx="284469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F2733"/>
                </a:solidFill>
                <a:latin typeface="Aptos"/>
              </a:rPr>
              <a:t>Software designed to perform a useful task for users.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18" name="Oval 17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QUICK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" b="1" i="0">
                <a:solidFill>
                  <a:srgbClr val="1E3A72"/>
                </a:solidFill>
                <a:latin typeface="Aptos Display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A calculator app is a...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954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095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209544"/>
            <a:ext cx="102257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Program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9534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953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895344"/>
            <a:ext cx="102257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Application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8114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811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581144"/>
            <a:ext cx="102257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Both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2669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266944"/>
            <a:ext cx="102257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Neither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19" name="Oval 18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Input → Process →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159252"/>
            <a:ext cx="3301898" cy="146304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598164"/>
            <a:ext cx="33018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E3A72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82212"/>
            <a:ext cx="33018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 i="0">
                <a:solidFill>
                  <a:srgbClr val="647085"/>
                </a:solidFill>
                <a:latin typeface="Aptos"/>
              </a:rPr>
              <a:t>15 + 20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96842" y="3890772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4265034" y="38107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44898" y="3159252"/>
            <a:ext cx="3301898" cy="146304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4898" y="3598164"/>
            <a:ext cx="33018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E3A72"/>
                </a:solidFill>
                <a:latin typeface="Aptos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4898" y="3982212"/>
            <a:ext cx="33018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 i="0">
                <a:solidFill>
                  <a:srgbClr val="647085"/>
                </a:solidFill>
                <a:latin typeface="Aptos"/>
              </a:rPr>
              <a:t>Addition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01661" y="3890772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8069853" y="38107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49717" y="3159252"/>
            <a:ext cx="3301898" cy="146304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9717" y="3598164"/>
            <a:ext cx="33018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1E3A72"/>
                </a:solidFill>
                <a:latin typeface="Apto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9717" y="3982212"/>
            <a:ext cx="33018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 i="0">
                <a:solidFill>
                  <a:srgbClr val="647085"/>
                </a:solidFill>
                <a:latin typeface="Aptos"/>
              </a:rPr>
              <a:t>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Clean reference — built live on the board first.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20" name="Oval 19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E4F9FB"/>
          </a:solidFill>
          <a:ln w="1270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PAIR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Your 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F2733"/>
                </a:solidFill>
                <a:latin typeface="Aptos"/>
              </a:rPr>
              <a:t>Pick something you did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F2733"/>
                </a:solidFill>
                <a:latin typeface="Aptos"/>
              </a:rPr>
              <a:t>What was the INPUT? PROCESS? OUTPUT?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1">
                <a:solidFill>
                  <a:srgbClr val="647085"/>
                </a:solidFill>
                <a:latin typeface="Aptos"/>
              </a:rPr>
              <a:t>90 seconds with the person next to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10" name="Oval 9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BIG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4984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E3A72"/>
                </a:solidFill>
                <a:latin typeface="Aptos Display"/>
              </a:rPr>
              <a:t>How do we turn a problem</a:t>
            </a:r>
          </a:p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E3A72"/>
                </a:solidFill>
                <a:latin typeface="Aptos Display"/>
              </a:rPr>
              <a:t>into something a computer can solve?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5" name="Oval 4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CORE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" b="1" i="0">
                <a:solidFill>
                  <a:srgbClr val="1E3A72"/>
                </a:solidFill>
                <a:latin typeface="Aptos Display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4105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000" b="1" i="0">
                <a:solidFill>
                  <a:srgbClr val="1E3A72"/>
                </a:solidFill>
                <a:latin typeface="Aptos Display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7" name="Oval 6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E3A72"/>
                </a:solidFill>
                <a:latin typeface="Aptos Display"/>
              </a:rPr>
              <a:t>Problem → Logic → Algorithm → Program →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73552"/>
            <a:ext cx="1779971" cy="123444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671316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PROBLEM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74915" y="3890772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2743107" y="38107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2971" y="3273552"/>
            <a:ext cx="1779971" cy="123444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2971" y="3671316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LOGIC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7806" y="3890772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5025998" y="38107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05862" y="3273552"/>
            <a:ext cx="1779971" cy="123444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862" y="3671316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ALGORITHM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40697" y="3890772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7308889" y="38107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88753" y="3273552"/>
            <a:ext cx="1779971" cy="123444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753" y="3671316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PROGRAM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3588" y="3890772"/>
            <a:ext cx="30319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9591780" y="38107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71644" y="3273552"/>
            <a:ext cx="1779971" cy="1234440"/>
          </a:xfrm>
          <a:prstGeom prst="roundRect">
            <a:avLst>
              <a:gd name="adj" fmla="val 9000"/>
            </a:avLst>
          </a:prstGeom>
          <a:solidFill>
            <a:srgbClr val="E4F9FB"/>
          </a:solidFill>
          <a:ln w="1587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71644" y="3671316"/>
            <a:ext cx="17799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Clean reference, shown after the live build — keep visible for the recap at the end of class.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25" name="Oval 24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E4F9FB"/>
          </a:solidFill>
          <a:ln w="1270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LIVE PROBLEM-SOLVING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Build an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F2733"/>
                </a:solidFill>
                <a:latin typeface="Aptos"/>
              </a:rPr>
              <a:t>A = 15        B =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F2733"/>
                </a:solidFill>
                <a:latin typeface="Aptos"/>
              </a:rPr>
              <a:t>How would you find the larger number?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1">
                <a:solidFill>
                  <a:srgbClr val="647085"/>
                </a:solidFill>
                <a:latin typeface="Aptos"/>
              </a:rPr>
              <a:t>Talk me through it — don't just give me the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10" name="Oval 9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“Find the Larger of Two Numbers”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396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396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112264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Take two numbers.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066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0662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679192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Compare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735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246120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If A &gt; B, A is larger.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81304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Otherwise, B is larger.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18" name="Oval 17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DISTINCTION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Algorithm ≠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RECIPE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F2733"/>
                </a:solidFill>
                <a:latin typeface="Aptos"/>
              </a:rPr>
              <a:t>A solution strategy. Language-independent — works the same in any language, even plain English.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8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4F9FB"/>
          </a:solidFill>
          <a:ln w="1587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8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THE DISH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8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8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F2733"/>
                </a:solidFill>
                <a:latin typeface="Aptos"/>
              </a:rPr>
              <a:t>That strategy implemented in a programming language. Only a computer executes it directly.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94680" y="3438144"/>
            <a:ext cx="312336" cy="0"/>
          </a:xfrm>
          <a:prstGeom prst="line">
            <a:avLst/>
          </a:prstGeom>
          <a:ln w="2540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6172016" y="335814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16" name="Oval 15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HOW PROGRAMMERS THINK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How Do Programmers THINK About Problems?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67712"/>
            <a:ext cx="5295748" cy="16916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05456"/>
            <a:ext cx="47471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Decomposition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53512"/>
            <a:ext cx="47471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733"/>
                </a:solidFill>
                <a:latin typeface="Aptos"/>
              </a:rPr>
              <a:t>Break a big problem into smaller pieces.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8" y="2267712"/>
            <a:ext cx="5295748" cy="1691640"/>
          </a:xfrm>
          <a:prstGeom prst="roundRect">
            <a:avLst>
              <a:gd name="adj" fmla="val 8000"/>
            </a:avLst>
          </a:prstGeom>
          <a:solidFill>
            <a:srgbClr val="E4F9FB"/>
          </a:solidFill>
          <a:ln w="1587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0188" y="2505456"/>
            <a:ext cx="47471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Pattern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0188" y="2953512"/>
            <a:ext cx="47471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733"/>
                </a:solidFill>
                <a:latin typeface="Aptos"/>
              </a:rPr>
              <a:t>Find similarities between problems.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79392"/>
            <a:ext cx="5295748" cy="1691640"/>
          </a:xfrm>
          <a:prstGeom prst="roundRect">
            <a:avLst>
              <a:gd name="adj" fmla="val 8000"/>
            </a:avLst>
          </a:prstGeom>
          <a:solidFill>
            <a:srgbClr val="E4F9FB"/>
          </a:solidFill>
          <a:ln w="1587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17136"/>
            <a:ext cx="47471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Abstraction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65192"/>
            <a:ext cx="47471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733"/>
                </a:solidFill>
                <a:latin typeface="Aptos"/>
              </a:rPr>
              <a:t>Ignore unnecessary detail.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8" y="4279392"/>
            <a:ext cx="5295748" cy="16916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0188" y="4517136"/>
            <a:ext cx="47471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Algorithmic Thinking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0188" y="4965192"/>
            <a:ext cx="47471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733"/>
                </a:solidFill>
                <a:latin typeface="Aptos"/>
              </a:rPr>
              <a:t>Create clear, ordered steps.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18" name="Oval 17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LIVE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4984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E3A72"/>
                </a:solidFill>
                <a:latin typeface="Aptos Display"/>
              </a:rPr>
              <a:t>Plan a birthday party.</a:t>
            </a:r>
          </a:p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E3A72"/>
                </a:solidFill>
                <a:latin typeface="Aptos Display"/>
              </a:rPr>
              <a:t>One giant task — or smaller pieces?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5" name="Oval 4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788920"/>
            <a:ext cx="914400" cy="54864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THE MAIN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Aptos Display"/>
              </a:rPr>
              <a:t>Teach a Computer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Aptos Display"/>
              </a:rPr>
              <a:t>How to Make Tea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177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1">
                <a:solidFill>
                  <a:srgbClr val="B9CCEE"/>
                </a:solidFill>
                <a:latin typeface="Aptos"/>
              </a:rPr>
              <a:t>Give me instructions. I will follow EXACTLY what you say.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82AE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7" name="Oval 6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THE KEY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11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 i="0">
                <a:solidFill>
                  <a:srgbClr val="FFFFFF"/>
                </a:solidFill>
                <a:latin typeface="Aptos Display"/>
              </a:rPr>
              <a:t>Computers don't assume.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Aptos Display"/>
              </a:rPr>
              <a:t>Human intention  </a:t>
            </a:r>
            <a:r>
              <a:rPr sz="3000" b="1">
                <a:solidFill>
                  <a:srgbClr val="22C7E0"/>
                </a:solidFill>
                <a:latin typeface="Aptos Display"/>
              </a:rPr>
              <a:t>≠</a:t>
            </a:r>
            <a:r>
              <a:rPr sz="3000" b="0">
                <a:solidFill>
                  <a:srgbClr val="FFFFFF"/>
                </a:solidFill>
                <a:latin typeface="Aptos Display"/>
              </a:rPr>
              <a:t>  Precise instruction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520440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E3ECFB"/>
                </a:solidFill>
                <a:latin typeface="Aptos"/>
              </a:rPr>
              <a:t>Programming requires us to turn human intentions</a:t>
            </a:r>
          </a:p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E3ECFB"/>
                </a:solidFill>
                <a:latin typeface="Aptos"/>
              </a:rPr>
              <a:t>into precise instructions.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82AE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8" name="Oval 7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Three Ways to Compute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783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Traditional</a:t>
            </a:r>
          </a:p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Programming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2066544"/>
            <a:ext cx="2738018" cy="9601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2066544"/>
            <a:ext cx="273801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INPUT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80634" y="2546604"/>
            <a:ext cx="20260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5548242" y="24666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09818" y="2066544"/>
            <a:ext cx="2738018" cy="9601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09818" y="2066544"/>
            <a:ext cx="273801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RULES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84413" y="2546604"/>
            <a:ext cx="20260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8652021" y="24666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13597" y="2066544"/>
            <a:ext cx="2738018" cy="9601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13597" y="2066544"/>
            <a:ext cx="273801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00984"/>
            <a:ext cx="1783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Machine</a:t>
            </a:r>
          </a:p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Learning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3300984"/>
            <a:ext cx="1962074" cy="960120"/>
          </a:xfrm>
          <a:prstGeom prst="roundRect">
            <a:avLst>
              <a:gd name="adj" fmla="val 12000"/>
            </a:avLst>
          </a:prstGeom>
          <a:solidFill>
            <a:srgbClr val="E4F9FB"/>
          </a:solidFill>
          <a:ln w="1270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3300984"/>
            <a:ext cx="196207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04690" y="3781044"/>
            <a:ext cx="20260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4772298" y="370104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33874" y="3300984"/>
            <a:ext cx="1962074" cy="9601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3874" y="3300984"/>
            <a:ext cx="196207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LEARNING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32524" y="3781044"/>
            <a:ext cx="20260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100132" y="370104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1708" y="3300984"/>
            <a:ext cx="1962074" cy="9601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1708" y="3300984"/>
            <a:ext cx="196207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MODEL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60357" y="3781044"/>
            <a:ext cx="20260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9427965" y="370104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89541" y="3300984"/>
            <a:ext cx="1962074" cy="9601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89541" y="3300984"/>
            <a:ext cx="196207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PREDICTION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535424"/>
            <a:ext cx="1783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Generative</a:t>
            </a:r>
          </a:p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06040" y="4535424"/>
            <a:ext cx="2738018" cy="960120"/>
          </a:xfrm>
          <a:prstGeom prst="roundRect">
            <a:avLst>
              <a:gd name="adj" fmla="val 12000"/>
            </a:avLst>
          </a:prstGeom>
          <a:solidFill>
            <a:srgbClr val="E4F9FB"/>
          </a:solidFill>
          <a:ln w="1270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4535424"/>
            <a:ext cx="273801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PROMPT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80634" y="5015484"/>
            <a:ext cx="20260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5548242" y="493548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709818" y="4535424"/>
            <a:ext cx="2738018" cy="9601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09818" y="4535424"/>
            <a:ext cx="273801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LLM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84413" y="5015484"/>
            <a:ext cx="202608" cy="0"/>
          </a:xfrm>
          <a:prstGeom prst="line">
            <a:avLst/>
          </a:prstGeom>
          <a:ln w="17780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8652021" y="493548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813597" y="4535424"/>
            <a:ext cx="2738018" cy="96012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13597" y="4535424"/>
            <a:ext cx="273801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RESPONSE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Conceptual only — no architecture, no training details.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44" name="Oval 43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QUICK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4984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E3A72"/>
                </a:solidFill>
                <a:latin typeface="Aptos Display"/>
              </a:rPr>
              <a:t>What changed?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4632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Rules  →  Data  → 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6" name="Oval 5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The Learning Staircase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4509821"/>
            <a:ext cx="1243927" cy="610819"/>
          </a:xfrm>
          <a:prstGeom prst="roundRect">
            <a:avLst>
              <a:gd name="adj" fmla="val 10000"/>
            </a:avLst>
          </a:prstGeom>
          <a:solidFill>
            <a:srgbClr val="E4F9FB"/>
          </a:solidFill>
          <a:ln w="19050">
            <a:solidFill>
              <a:srgbClr val="22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25773"/>
            <a:ext cx="12439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1167" y="4326575"/>
            <a:ext cx="1243927" cy="794065"/>
          </a:xfrm>
          <a:prstGeom prst="roundRect">
            <a:avLst>
              <a:gd name="adj" fmla="val 10000"/>
            </a:avLst>
          </a:prstGeom>
          <a:solidFill>
            <a:srgbClr val="E4F9FB"/>
          </a:solidFill>
          <a:ln w="19050">
            <a:solidFill>
              <a:srgbClr val="22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1167" y="3942527"/>
            <a:ext cx="12439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1E3A72"/>
                </a:solidFill>
                <a:latin typeface="Aptos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2254" y="4143329"/>
            <a:ext cx="1243927" cy="977311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2254" y="3759281"/>
            <a:ext cx="12439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647085"/>
                </a:solidFill>
                <a:latin typeface="Aptos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83341" y="3960084"/>
            <a:ext cx="1243927" cy="1160556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3341" y="3576036"/>
            <a:ext cx="12439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647085"/>
                </a:solidFill>
                <a:latin typeface="Apto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8" y="3776838"/>
            <a:ext cx="1243927" cy="1343802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4428" y="3392790"/>
            <a:ext cx="12439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647085"/>
                </a:solidFill>
                <a:latin typeface="Aptos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5514" y="3593592"/>
            <a:ext cx="1243927" cy="1527048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5514" y="3209544"/>
            <a:ext cx="12439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647085"/>
                </a:solidFill>
                <a:latin typeface="Aptos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6601" y="3410346"/>
            <a:ext cx="1243927" cy="1710294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26601" y="3026298"/>
            <a:ext cx="12439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647085"/>
                </a:solidFill>
                <a:latin typeface="Aptos"/>
              </a:rPr>
              <a:t>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07688" y="3227100"/>
            <a:ext cx="1243927" cy="189354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07688" y="2843052"/>
            <a:ext cx="12439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647085"/>
                </a:solidFill>
                <a:latin typeface="Aptos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30368"/>
            <a:ext cx="1426807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E3A72"/>
                </a:solidFill>
                <a:latin typeface="Aptos"/>
              </a:rPr>
              <a:t>Programming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9727" y="5230368"/>
            <a:ext cx="1426807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E3A72"/>
                </a:solidFill>
                <a:latin typeface="Aptos"/>
              </a:rPr>
              <a:t>Computer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E3A72"/>
                </a:solidFill>
                <a:latin typeface="Aptos"/>
              </a:rPr>
              <a:t>Science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814" y="5230368"/>
            <a:ext cx="1426807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647085"/>
                </a:solidFill>
                <a:latin typeface="Aptos"/>
              </a:rPr>
              <a:t>Mathematics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1901" y="5230368"/>
            <a:ext cx="1426807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647085"/>
                </a:solidFill>
                <a:latin typeface="Aptos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2988" y="5230368"/>
            <a:ext cx="1426807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647085"/>
                </a:solidFill>
                <a:latin typeface="Aptos"/>
              </a:rPr>
              <a:t>Machine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647085"/>
                </a:solidFill>
                <a:latin typeface="Aptos"/>
              </a:rPr>
              <a:t>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4074" y="5230368"/>
            <a:ext cx="1426807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647085"/>
                </a:solidFill>
                <a:latin typeface="Aptos"/>
              </a:rPr>
              <a:t>Deep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647085"/>
                </a:solidFill>
                <a:latin typeface="Aptos"/>
              </a:rPr>
              <a:t>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5161" y="5230368"/>
            <a:ext cx="1426807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647085"/>
                </a:solidFill>
                <a:latin typeface="Aptos"/>
              </a:rPr>
              <a:t>LLMs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16248" y="5230368"/>
            <a:ext cx="1426807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647085"/>
                </a:solidFill>
                <a:latin typeface="Aptos"/>
              </a:rPr>
              <a:t>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A learning pathway, not a strict formal dependency graph.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31" name="Oval 30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058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REFLECT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10149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800" b="1" i="0">
                <a:solidFill>
                  <a:srgbClr val="1E3A72"/>
                </a:solidFill>
                <a:latin typeface="Aptos Display"/>
              </a:rPr>
              <a:t>Why don't we start</a:t>
            </a:r>
          </a:p>
          <a:p>
            <a:pPr algn="ctr">
              <a:lnSpc>
                <a:spcPct val="110000"/>
              </a:lnSpc>
            </a:pPr>
            <a:r>
              <a:rPr sz="3800" b="1" i="0">
                <a:solidFill>
                  <a:srgbClr val="1E3A72"/>
                </a:solidFill>
                <a:latin typeface="Aptos Display"/>
              </a:rPr>
              <a:t>with AI Agents?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0" y="3246120"/>
            <a:ext cx="2286000" cy="27432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566160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1">
                <a:solidFill>
                  <a:srgbClr val="2A5CB8"/>
                </a:solidFill>
                <a:latin typeface="Aptos"/>
              </a:rPr>
              <a:t>Because we're building the staircase,</a:t>
            </a:r>
          </a:p>
          <a:p>
            <a:pPr algn="ctr">
              <a:lnSpc>
                <a:spcPct val="120000"/>
              </a:lnSpc>
            </a:pPr>
            <a:r>
              <a:rPr sz="2600" b="0" i="1">
                <a:solidFill>
                  <a:srgbClr val="2A5CB8"/>
                </a:solidFill>
                <a:latin typeface="Aptos"/>
              </a:rPr>
              <a:t>not jumping to the 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7" name="Oval 6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PATH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Your 4-Month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57984"/>
            <a:ext cx="2487854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57984"/>
            <a:ext cx="2487854" cy="502920"/>
          </a:xfrm>
          <a:prstGeom prst="roundRect">
            <a:avLst>
              <a:gd name="adj" fmla="val 4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14016"/>
            <a:ext cx="2487854" cy="246888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24878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MONTH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43784"/>
            <a:ext cx="203065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529584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Computing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913632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97680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681728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Mathematics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974" y="2157984"/>
            <a:ext cx="2487854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47974" y="2157984"/>
            <a:ext cx="2487854" cy="502920"/>
          </a:xfrm>
          <a:prstGeom prst="roundRect">
            <a:avLst>
              <a:gd name="adj" fmla="val 4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47974" y="2414016"/>
            <a:ext cx="2487854" cy="246888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974" y="2157984"/>
            <a:ext cx="24878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MONTH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6574" y="2843784"/>
            <a:ext cx="203065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CS &amp; Problem Solving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4006" y="3529584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4006" y="3913632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DSA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4006" y="4297680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Algorithms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4006" y="4681728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5868" y="2157984"/>
            <a:ext cx="2487854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55868" y="2157984"/>
            <a:ext cx="2487854" cy="502920"/>
          </a:xfrm>
          <a:prstGeom prst="roundRect">
            <a:avLst>
              <a:gd name="adj" fmla="val 4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5868" y="2414016"/>
            <a:ext cx="2487854" cy="246888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5868" y="2157984"/>
            <a:ext cx="24878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MONTH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4468" y="2843784"/>
            <a:ext cx="203065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Engineering +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1900" y="3529584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Linux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1900" y="3913632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Git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1900" y="4297680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APIs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1900" y="4681728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AI/ML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1900" y="5065776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GenAI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1900" y="5449824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Agents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63761" y="2157984"/>
            <a:ext cx="2487854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63761" y="2157984"/>
            <a:ext cx="2487854" cy="502920"/>
          </a:xfrm>
          <a:prstGeom prst="roundRect">
            <a:avLst>
              <a:gd name="adj" fmla="val 4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63761" y="2414016"/>
            <a:ext cx="2487854" cy="246888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63761" y="2157984"/>
            <a:ext cx="24878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MONTH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2361" y="2843784"/>
            <a:ext cx="203065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Consolidation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19793" y="3529584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Revision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9793" y="3913632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Projects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9793" y="4297680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Tests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19793" y="4681728"/>
            <a:ext cx="2030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F2733"/>
                </a:solidFill>
                <a:latin typeface="Aptos"/>
              </a:rPr>
              <a:t>• Demo 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44" name="Oval 43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REMEMBER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What You Should Know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585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12264"/>
            <a:ext cx="10362895" cy="560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Computer Science is broader than coding.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18965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72661"/>
            <a:ext cx="10362895" cy="560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Programs are instructions executed by computers.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7936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33057"/>
            <a:ext cx="10362895" cy="560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Algorithms describe solution strategies.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975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93454"/>
            <a:ext cx="10362895" cy="560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Algorithms are not the same as programs.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0015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353850"/>
            <a:ext cx="10362895" cy="560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Computers require precise instructions.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6055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14247"/>
            <a:ext cx="10362895" cy="560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Computational thinking helps solve problems.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20947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474643"/>
            <a:ext cx="10362895" cy="560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Programming and CS form foundations for AI.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20" name="Oval 19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FINAL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Exit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396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396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112264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Is Computer Science the same as coding?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066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0662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679192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Give an input → process → output example.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735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246120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Describe an algorithm.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81304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Algorithm vs. program — what's the difference?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074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074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379976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F2733"/>
                </a:solidFill>
                <a:latin typeface="Aptos"/>
              </a:rPr>
              <a:t>How does today's class connect to AI?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21" name="Oval 20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ASSIGNMENT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FFFFF"/>
                </a:solidFill>
                <a:latin typeface="Aptos Display"/>
              </a:rPr>
              <a:t>Think Like a Programmer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1">
                <a:solidFill>
                  <a:srgbClr val="B9CCEE"/>
                </a:solidFill>
                <a:latin typeface="Aptos"/>
              </a:rPr>
              <a:t>Choose one everyday process from the list below.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CHOOSE ONE EVERYDAY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Aptos"/>
              </a:rPr>
              <a:t>• ATM withdrawal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743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Aptos"/>
              </a:rPr>
              <a:t>• Ordering food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Aptos"/>
              </a:rPr>
              <a:t>• Booking a cab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154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Aptos"/>
              </a:rPr>
              <a:t>• Online shopping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Aptos"/>
              </a:rPr>
              <a:t>• Making tea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5661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Aptos"/>
              </a:rPr>
              <a:t>• Sending a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317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FOR YOUR CHOSEN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6148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76148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Aptos"/>
              </a:rPr>
              <a:t>Identify Input, Process, and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1985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41985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0156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Aptos"/>
              </a:rPr>
              <a:t>Write an algorithm with at least 5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7822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407822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0599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Aptos"/>
              </a:rPr>
              <a:t>Use plain language — no code required.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82AE"/>
                </a:solidFill>
                <a:latin typeface="Aptos"/>
              </a:rPr>
              <a:t>Bong Study Hub  ·  Foundation Batch 2026  ·  Class 01</a:t>
            </a:r>
          </a:p>
        </p:txBody>
      </p:sp>
      <p:sp>
        <p:nvSpPr>
          <p:cNvPr id="23" name="Oval 22"/>
          <p:cNvSpPr/>
          <p:nvPr/>
        </p:nvSpPr>
        <p:spPr>
          <a:xfrm>
            <a:off x="1031717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4519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7320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0122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29239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57255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85271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213287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41303" y="6355080"/>
            <a:ext cx="82296" cy="82296"/>
          </a:xfrm>
          <a:prstGeom prst="ellipse">
            <a:avLst/>
          </a:prstGeom>
          <a:solidFill>
            <a:srgbClr val="C7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469319" y="6355080"/>
            <a:ext cx="82296" cy="8229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