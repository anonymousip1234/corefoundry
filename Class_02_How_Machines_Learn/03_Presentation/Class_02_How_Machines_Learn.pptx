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Clean, unhurried open -- same premium tone as Class 01's title slide.</a:t>
            </a:r>
          </a:p>
          <a:p>
            <a:r>
              <a:t>Say: Do not read the slide aloud. Briefly reconnect to Class 01 before the first question.</a:t>
            </a:r>
          </a:p>
          <a:p>
            <a:r>
              <a:t>Board: None.</a:t>
            </a:r>
          </a:p>
          <a:p>
            <a:r>
              <a:t>Transition: You use AI every day. But how does a computer actually know what to recommend, recognize, or predict?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[DO NOT ANSWER YET]</a:t>
            </a:r>
          </a:p>
          <a:p>
            <a:r>
              <a:t>TIME: 2 min</a:t>
            </a:r>
          </a:p>
          <a:p>
            <a:r>
              <a:t>Purpose: Open the class question. Do not answer it here -- the whole class answers it (Guide §8).</a:t>
            </a:r>
          </a:p>
          <a:p>
            <a:r>
              <a:t>Say: Let it sit for a moment after reading it aloud.</a:t>
            </a:r>
          </a:p>
          <a:p>
            <a:r>
              <a:t>Board: None.</a:t>
            </a:r>
          </a:p>
          <a:p>
            <a:r>
              <a:t>Transition: Let's connect this to what we already know from Class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2 min</a:t>
            </a:r>
          </a:p>
          <a:p>
            <a:r>
              <a:t>Purpose: Continuity with Class 01's chain (Guide §3) -- Class 02 extends this, it doesn't replace it.</a:t>
            </a:r>
          </a:p>
          <a:p>
            <a:r>
              <a:t>Say: Class 1 gave us this chain -- a human works out the logic and writes precise instructions.</a:t>
            </a:r>
          </a:p>
          <a:p>
            <a:r>
              <a:t>Board: None.</a:t>
            </a:r>
          </a:p>
          <a:p>
            <a:r>
              <a:t>Transition: Let's build toward an answer -- starting with what AI even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</a:t>
            </a:r>
          </a:p>
          <a:p>
            <a:r>
              <a:t>Purpose: Working, non-philosophical notion of AI (Guide §9). Not a formal definition to memorize.</a:t>
            </a:r>
          </a:p>
          <a:p>
            <a:r>
              <a:t>Say: Not about robots, and we're not debating whether a machine 'truly' thinks -- that's outside today's scope.</a:t>
            </a:r>
          </a:p>
          <a:p>
            <a:r>
              <a:t>Ask: Is a basic calculator AI? A thermostat?</a:t>
            </a:r>
          </a:p>
          <a:p>
            <a:r>
              <a:t>Board: None.</a:t>
            </a:r>
          </a:p>
          <a:p>
            <a:r>
              <a:t>Transition: Let's go look at where this already shows up in things you use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4 min</a:t>
            </a:r>
          </a:p>
          <a:p>
            <a:r>
              <a:t>Purpose: Ground AI in concrete daily examples (Guide §10) before any mechanism is discussed.</a:t>
            </a:r>
          </a:p>
          <a:p>
            <a:r>
              <a:t>Ask: Where have you noticed something 'smart' like this in an app you use daily?</a:t>
            </a:r>
          </a:p>
          <a:p>
            <a:r>
              <a:t>Board: Optional light list on Pen Tablet Drawing 1 as examples come up.</a:t>
            </a:r>
          </a:p>
          <a:p>
            <a:r>
              <a:t>Transition: Two more you already know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3 min</a:t>
            </a:r>
          </a:p>
          <a:p>
            <a:r>
              <a:t>Purpose: Complete the five approved examples (Guide §10). We don't know or need proprietary internals of any of these.</a:t>
            </a:r>
          </a:p>
          <a:p>
            <a:r>
              <a:t>Ask: Did someone hand-write a rule for every possible case here?</a:t>
            </a:r>
          </a:p>
          <a:p>
            <a:r>
              <a:t>Board: Pen Tablet Drawing 1 finishes as a 5-line list.</a:t>
            </a:r>
          </a:p>
          <a:p>
            <a:r>
              <a:t>Transition: None of these work by someone hand-writing a rule for every case. Let's see why that's hard -- starting with something simple: a spam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2–3 min (Pen Tablet Drawing 2, ~31–43 min)</a:t>
            </a:r>
          </a:p>
          <a:p>
            <a:r>
              <a:t>Purpose: Clean reference only -- instructor builds this live on the pen tablet, filling the middle box with student-proposed rules (Board Plan Drawing 2). Show this slide before or after the live build, never as a substitute for it.</a:t>
            </a:r>
          </a:p>
          <a:p>
            <a:r>
              <a:t>Ask: If you were building a spam filter by hand, what's your first rule?</a:t>
            </a:r>
          </a:p>
          <a:p>
            <a:r>
              <a:t>Board: SWITCH TO PEN TABLET NOW — Drawing 2.</a:t>
            </a:r>
          </a:p>
          <a:p>
            <a:r>
              <a:t>Transition: Here's what a rule like that actually looks like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Model what a plain-English rule looks like (Guide §11) before/while students propose their own on the pen tablet.</a:t>
            </a:r>
          </a:p>
          <a:p>
            <a:r>
              <a:t>Say: Someone had to think of and type in each one of these, exactly.</a:t>
            </a:r>
          </a:p>
          <a:p>
            <a:r>
              <a:t>Board: These can seed the live rule list on Drawing 2 if students need a starting nudge.</a:t>
            </a:r>
          </a:p>
          <a:p>
            <a:r>
              <a:t>Transition: This is a completely reasonable first attempt. Let's throw some real emails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3 min</a:t>
            </a:r>
          </a:p>
          <a:p>
            <a:r>
              <a:t>Purpose: First counter-examples for the Rule Problem (Guide §12). Do not resolve yet.</a:t>
            </a:r>
          </a:p>
          <a:p>
            <a:r>
              <a:t>Ask: Does your rule catch this? Does it wrongly block this?</a:t>
            </a:r>
          </a:p>
          <a:p>
            <a:r>
              <a:t>Board: SWITCH TO PEN TABLET — Drawing 3 (crowd the rule list as more counter-examples land).</a:t>
            </a:r>
          </a:p>
          <a:p>
            <a:r>
              <a:t>Transition: And there's always another case waiting.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Framing only — real crowding happens on Pen Tablet Drawing 3</a:t>
            </a:r>
          </a:p>
          <a:p>
            <a:r>
              <a:t>Purpose: Frame the problem; the actual crowded rule list is built live on the pen tablet, not on this slide (Guide §12).</a:t>
            </a:r>
          </a:p>
          <a:p>
            <a:r>
              <a:t>Say: That feeling of a rule list growing forever and still missing cases -- that's what we call rule explosion. Not impossible. Just not realistic.</a:t>
            </a:r>
          </a:p>
          <a:p>
            <a:r>
              <a:t>Board: Pen tablet stays the crowded, real version.</a:t>
            </a:r>
          </a:p>
          <a:p>
            <a:r>
              <a:t>Transition: So here's the honest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 [DO NOT ANSWER YET]</a:t>
            </a:r>
          </a:p>
          <a:p>
            <a:r>
              <a:t>TIME: Wait 10–15 sec of real silence</a:t>
            </a:r>
          </a:p>
          <a:p>
            <a:r>
              <a:t>Purpose: The pivot question (Guide §12) -- give real wait time before saying anything else.</a:t>
            </a:r>
          </a:p>
          <a:p>
            <a:r>
              <a:t>Board: None -- let the pen tablet's crowded Drawing 3 sit on screen or switch back to it while waiting.</a:t>
            </a:r>
          </a:p>
          <a:p>
            <a:r>
              <a:t>Transition: (once someone lands near 'show it examples') That instinct has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First reveal of the ML idea (Guide §13) -- deliberately partial. Do NOT show the full four-stage pipeline yet.</a:t>
            </a:r>
          </a:p>
          <a:p>
            <a:r>
              <a:t>Say: A learning process looks across the examples and finds what separates one thing from another.</a:t>
            </a:r>
          </a:p>
          <a:p>
            <a:r>
              <a:t>Board: None yet.</a:t>
            </a:r>
          </a:p>
          <a:p>
            <a:r>
              <a:t>Transition: Let's put a name to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Careful wording (Guide §25 language guardrails) -- avoid implying human-like understanding.</a:t>
            </a:r>
          </a:p>
          <a:p>
            <a:r>
              <a:t>Say: The system doesn't understand spam the way you do -- it notices patterns.</a:t>
            </a:r>
          </a:p>
          <a:p>
            <a:r>
              <a:t>Board: None.</a:t>
            </a:r>
          </a:p>
          <a:p>
            <a:r>
              <a:t>Transition: Let's build out what 'learning from examples' actually looks like,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5–6 min (Pen Tablet Drawing 4, ~70–78 min) — PROTECTED, never compressed</a:t>
            </a:r>
          </a:p>
          <a:p>
            <a:r>
              <a:t>Purpose: This slide only anchors the moment. The full Data → Learning → Model → Prediction pipeline is built live on the pen tablet, one box at a time, each earned by a question (Board Plan Drawing 4). Do not reveal the finished pipeline on a slide before the live build.</a:t>
            </a:r>
          </a:p>
          <a:p>
            <a:r>
              <a:t>Ask: What do we need to give the machine, if we're not giving it rules?</a:t>
            </a:r>
          </a:p>
          <a:p>
            <a:r>
              <a:t>Board: SWITCH TO PEN TABLET NOW — Drawing 4, the hero drawing. Keep this page reachable for the rest of class.</a:t>
            </a:r>
          </a:p>
          <a:p>
            <a:r>
              <a:t>Transition: (after the full pipeline is built live) This one goes in your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 DONE]</a:t>
            </a:r>
          </a:p>
          <a:p>
            <a:r>
              <a:t>TIME: Reinforcement, right after the pen-tablet build</a:t>
            </a:r>
          </a:p>
          <a:p>
            <a:r>
              <a:t>Purpose: Reveal/reinforce the finished pipeline ONLY after the pen tablet has built it live (Guide §14, Board Plan §6). Ground each box in the spam example while walking through this slide.</a:t>
            </a:r>
          </a:p>
          <a:p>
            <a:r>
              <a:t>Say: Data = past labeled emails. Learning = finding patterns. Model = the trained filter. Prediction = spam or not, for a brand-new email.</a:t>
            </a:r>
          </a:p>
          <a:p>
            <a:r>
              <a:t>Board: Pen Tablet Drawing 4 stays live and reachable for Prediction ≠ Certainty and AI Is Not Magic, later in class.</a:t>
            </a:r>
          </a:p>
          <a:p>
            <a:r>
              <a:t>Transition: Let's put this right next to the other chain we built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The intellectual backbone of the class (Guide §14). Exact terminology only -- no competing labels.</a:t>
            </a:r>
          </a:p>
          <a:p>
            <a:r>
              <a:t>Say: Something goes in, something happens, something comes out. The difference is who decides the middle part.</a:t>
            </a:r>
          </a:p>
          <a:p>
            <a:r>
              <a:t>Board: None new -- both chains already exist on the pen tablet.</a:t>
            </a:r>
          </a:p>
          <a:p>
            <a:r>
              <a:t>Transition: Let's actually reason through this with a concrete example: cats and dogs.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</a:t>
            </a:r>
          </a:p>
          <a:p>
            <a:r>
              <a:t>TIME: 12 min (Guide §15) — PROTECTED</a:t>
            </a:r>
          </a:p>
          <a:p>
            <a:r>
              <a:t>Purpose: Visual setup only for the reasoning activity. The actual reasoning happens verbally with students -- no pen-tablet drawing replaces it (Board Plan §7).</a:t>
            </a:r>
          </a:p>
          <a:p>
            <a:r>
              <a:t>Ask: What patterns do you notice? Then: is your guess on the new photo guaranteed to be correct?</a:t>
            </a:r>
          </a:p>
          <a:p>
            <a:r>
              <a:t>Board: No new drawing. If useful, point back to Pen Tablet Drawing 4 and trace the same four boxes with cats/dogs.</a:t>
            </a:r>
          </a:p>
          <a:p>
            <a:r>
              <a:t>Transition: That guess you just made -- was it guaranteed to be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</a:t>
            </a:r>
          </a:p>
          <a:p>
            <a:r>
              <a:t>Purpose: Prevent the 'prediction = truth' misconception (Guide §16). No probability or confidence scores.</a:t>
            </a:r>
          </a:p>
          <a:p>
            <a:r>
              <a:t>Say: A wrong guess doesn't mean the system is broken -- the same way a person's reasonable guess can be wrong.</a:t>
            </a:r>
          </a:p>
          <a:p>
            <a:r>
              <a:t>Board: Point back to Pen Tablet Drawing 4's PREDICTION box -- no new drawing.</a:t>
            </a:r>
          </a:p>
          <a:p>
            <a:r>
              <a:t>Transition: This connects to something bigger: AI isn't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</a:t>
            </a:r>
          </a:p>
          <a:p>
            <a:r>
              <a:t>Purpose: AI depends entirely on data and patterns (Guide §17). Not an ethics lecture -- keep concise.</a:t>
            </a:r>
          </a:p>
          <a:p>
            <a:r>
              <a:t>Say: If the data going in is limited or one-sided, the predictions will be too.</a:t>
            </a:r>
          </a:p>
          <a:p>
            <a:r>
              <a:t>Board: Reuse Pen Tablet Drawing 4 -- light annotation near the DATA box.</a:t>
            </a:r>
          </a:p>
          <a:p>
            <a:r>
              <a:t>Transition: Now let's zoom out and see how all the AI terms you've heard fit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3–4 min (Pen Tablet Drawing 5, ~99–104 min)</a:t>
            </a:r>
          </a:p>
          <a:p>
            <a:r>
              <a:t>Purpose: Orientation map (Guide §18), built live ring by ring on the pen tablet; this slide reinforces it afterward.</a:t>
            </a:r>
          </a:p>
          <a:p>
            <a:r>
              <a:t>Ask: Where do you think ChatGPT belongs on this map?</a:t>
            </a:r>
          </a:p>
          <a:p>
            <a:r>
              <a:t>Board: Pen tablet builds this ring by ring; show slide as clean reference after.</a:t>
            </a:r>
          </a:p>
          <a:p>
            <a:r>
              <a:t>Transition: Let's put today in context of the bigger picture from Class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Sparse, powerful recap (Guide §15) -- not a new teaching section.</a:t>
            </a:r>
          </a:p>
          <a:p>
            <a:r>
              <a:t>Say: Keep this one line in your head.</a:t>
            </a:r>
          </a:p>
          <a:p>
            <a:r>
              <a:t>Board: None.</a:t>
            </a:r>
          </a:p>
          <a:p>
            <a:r>
              <a:t>Transition: Let's zoom out one more time -- the staircase from Class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2 min (Pen Tablet Drawing 6, ~104–107 min)</a:t>
            </a:r>
          </a:p>
          <a:p>
            <a:r>
              <a:t>Purpose: Reconnect to Class 01's closing image (Guide §19) -- a callback, not a new curriculum diagram. Do not explain the later steps.</a:t>
            </a:r>
          </a:p>
          <a:p>
            <a:r>
              <a:t>Say: We gave you a preview of where this staircase leads. We are not skipping the steps underneath it.</a:t>
            </a:r>
          </a:p>
          <a:p>
            <a:r>
              <a:t>Board: Quick redraw on the pen tablet, faster than Class 01's original build.</a:t>
            </a:r>
          </a:p>
          <a:p>
            <a:r>
              <a:t>Transition: Let's pull together what we learned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Concise conceptual recap (Guide §20) -- ask students to explain these in their own words rather than reading the list aloud.</a:t>
            </a:r>
          </a:p>
          <a:p>
            <a:r>
              <a:t>Board: None.</a:t>
            </a:r>
          </a:p>
          <a:p>
            <a:r>
              <a:t>Transition: Quick self-check before we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3 min</a:t>
            </a:r>
          </a:p>
          <a:p>
            <a:r>
              <a:t>Purpose: Formative check aligned to the class success metric (Guide §21) -- explanation questions, not terminology recall. Do not reveal answers here; use the Student Notes / Instructor Guide.</a:t>
            </a:r>
          </a:p>
          <a:p>
            <a:r>
              <a:t>Board: Pen Tablet Drawing 4 (Core Pipeline) and Drawing 6 (Staircase) stay visible for reference.</a:t>
            </a:r>
          </a:p>
          <a:p>
            <a:r>
              <a:t>Transition: One more thing before you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Close the class on continuity, not a cliffhanger (Guide §19, §22) -- no new technical content belongs here.</a:t>
            </a:r>
          </a:p>
          <a:p>
            <a:r>
              <a:t>Say: See your Student Notes for the full recap and self-check answer key.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Aptos Display"/>
              </a:rPr>
              <a:t>How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Aptos Display"/>
              </a:rPr>
              <a:t>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From Rules → Data →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How can a machine make a decision</a:t>
            </a:r>
          </a:p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when nobody explicitly wrote the rule</a:t>
            </a:r>
          </a:p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for every situation?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5" name="Oval 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FROM CLASS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Where We Left 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692679"/>
            <a:ext cx="1779971" cy="10058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76143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74915" y="3195599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2743107" y="311559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2692679"/>
            <a:ext cx="1779971" cy="10058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2971" y="2976143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7806" y="3195599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025998" y="311559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5862" y="2692679"/>
            <a:ext cx="1779971" cy="10058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862" y="2976143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697" y="3195599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308889" y="311559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88753" y="2692679"/>
            <a:ext cx="1779971" cy="10058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753" y="2976143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PROGRAM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3588" y="3195599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9591780" y="311559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71644" y="2692679"/>
            <a:ext cx="1779971" cy="10058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1644" y="2976143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2051"/>
            <a:ext cx="10911535" cy="1436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E3A72"/>
                </a:solidFill>
                <a:latin typeface="Aptos Display"/>
              </a:rPr>
              <a:t>But what happens when writing every rule becomes impractical?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5" name="Oval 2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WORKING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What Is 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12264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733"/>
                </a:solidFill>
                <a:latin typeface="Aptos"/>
              </a:rPr>
              <a:t>Artificial Intelligence is our word for computer systems built to do things that normally seem to require some kind of intelligence — recognizing a face, recommending a movie, answering a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7" name="Oval 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AI AROUND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Already in Your Pocket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342381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57984"/>
            <a:ext cx="342381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78024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Spam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9584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RECEIVES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9624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The email's content and patterns learned from millions of past emails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55464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PRODUCES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75504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A spam / not-spam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157984"/>
            <a:ext cx="342381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938" y="2157984"/>
            <a:ext cx="342381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8258" y="2478024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Recommendation</a:t>
            </a:r>
          </a:p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3529584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RECEIVES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3849624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What you (and similar users) watched, liked, or skipped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8258" y="4855464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PRODUCES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258" y="5175504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A ranked list of suggestions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7" y="2157984"/>
            <a:ext cx="342381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7" y="2157984"/>
            <a:ext cx="342381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2117" y="2478024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Maps &amp;</a:t>
            </a:r>
          </a:p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117" y="3529584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RECEIVES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2117" y="3849624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Current and past traffic, road data, other users'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2117" y="4855464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PRODUCES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2117" y="5175504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A route and a time estimate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7" name="Oval 2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AI AROUND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Already in Your Pocket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52957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57984"/>
            <a:ext cx="529574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78024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Face Unlock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9584"/>
            <a:ext cx="47471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RECEIVES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9624"/>
            <a:ext cx="47471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Many earlier images of your face, then a new camera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55464"/>
            <a:ext cx="47471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PRODUCES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75504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A match / no-match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8" y="2157984"/>
            <a:ext cx="52957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5868" y="2157984"/>
            <a:ext cx="529574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8" y="2478024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Generative AI</a:t>
            </a:r>
          </a:p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(e.g., ChatGPT)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8" y="3529584"/>
            <a:ext cx="47471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RECEIVES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8" y="3849624"/>
            <a:ext cx="47471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Patterns learned from enormous amounts of text, plus your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8" y="4855464"/>
            <a:ext cx="47471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A5CB8"/>
                </a:solidFill>
                <a:latin typeface="Aptos"/>
              </a:rPr>
              <a:t>PRODUCES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8" y="5175504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733"/>
                </a:solidFill>
                <a:latin typeface="Aptos"/>
              </a:rPr>
              <a:t>A newly generated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0" name="Oval 19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 Computer Can Follow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4972"/>
            <a:ext cx="3301898" cy="13716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9050">
            <a:solidFill>
              <a:srgbClr val="C7D6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71316"/>
            <a:ext cx="33018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96842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4265034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3204972"/>
            <a:ext cx="3301898" cy="13716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9050">
            <a:solidFill>
              <a:srgbClr val="C7D6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4898" y="3671316"/>
            <a:ext cx="33018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HUMAN-WRITTEN</a:t>
            </a:r>
          </a:p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RULES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1661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8069853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9717" y="3204972"/>
            <a:ext cx="3301898" cy="13716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9050">
            <a:solidFill>
              <a:srgbClr val="C7D6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9717" y="3671316"/>
            <a:ext cx="33018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A human thinks of the rule. The computer follows it. Built live on the pen tablet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17" name="Oval 1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PLAIN ENGLISH, NO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Spam Filter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2714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If the email contains “you have won” → spam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6382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63824"/>
            <a:ext cx="102714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If the sender is unknown and asks for money → spam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966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9664"/>
            <a:ext cx="102714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If the subject has lots of “!!!” → spam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66944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47085"/>
                </a:solidFill>
                <a:latin typeface="Aptos"/>
              </a:rPr>
              <a:t>Every rule here is something a person had to think of and write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13" name="Oval 12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STRESS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Happens When the Rules Break?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951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A GENUINE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15184"/>
            <a:ext cx="102714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1">
                <a:solidFill>
                  <a:srgbClr val="1F2733"/>
                </a:solidFill>
                <a:latin typeface="Aptos"/>
              </a:rPr>
              <a:t>“Your booking is urgent — confirm now!”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46704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15875">
            <a:solidFill>
              <a:srgbClr val="C27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838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C2790F"/>
                </a:solidFill>
                <a:latin typeface="Aptos"/>
              </a:rPr>
              <a:t>A REAL SPAM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03904"/>
            <a:ext cx="102714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1">
                <a:solidFill>
                  <a:srgbClr val="1F2733"/>
                </a:solidFill>
                <a:latin typeface="Aptos"/>
              </a:rPr>
              <a:t>“fr33 amaz0n...”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72584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Would our rules handle these correctly?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13" name="Oval 12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FEELING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The Rule List Keeps Growing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9768" y="2066544"/>
            <a:ext cx="585216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69768" y="2066544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ONE RULE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2670048"/>
            <a:ext cx="0" cy="40302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267535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69768" y="2836926"/>
            <a:ext cx="585216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9768" y="2836926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NEW EXCEPTION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8" y="3440430"/>
            <a:ext cx="0" cy="40302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6015848" y="344573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69768" y="3607308"/>
            <a:ext cx="585216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9768" y="3607308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ANOTHER RULE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8" y="4210812"/>
            <a:ext cx="0" cy="40302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15848" y="421611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69768" y="4377690"/>
            <a:ext cx="585216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9768" y="4377690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ANOTHER EXCEPTION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8" y="4981194"/>
            <a:ext cx="0" cy="40302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15848" y="4986496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69768" y="5148072"/>
            <a:ext cx="5852160" cy="566928"/>
          </a:xfrm>
          <a:prstGeom prst="roundRect">
            <a:avLst>
              <a:gd name="adj" fmla="val 14000"/>
            </a:avLst>
          </a:prstGeom>
          <a:solidFill>
            <a:srgbClr val="FBEEDC"/>
          </a:solidFill>
          <a:ln w="12700">
            <a:solidFill>
              <a:srgbClr val="C27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9768" y="5148072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“Rule explosion” — this class's own label for the feeling, not a formal term.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5" name="Oval 2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If humans cannot realistically</a:t>
            </a:r>
          </a:p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write every rule, what could we give</a:t>
            </a:r>
          </a:p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the computer instead?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5" name="Oval 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" b="1" i="0">
                <a:solidFill>
                  <a:srgbClr val="1E3A72"/>
                </a:solidFill>
                <a:latin typeface="Aptos Display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Instead of manually writing every rule…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72384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E3A72"/>
                </a:solidFill>
                <a:latin typeface="Aptos"/>
              </a:rPr>
              <a:t>give the system examples.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9664"/>
            <a:ext cx="2583180" cy="91440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07408"/>
            <a:ext cx="25831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78124" y="4626864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546316" y="45468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26180" y="4169664"/>
            <a:ext cx="2583180" cy="91440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6180" y="4407408"/>
            <a:ext cx="25831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14" name="Oval 13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12264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733"/>
                </a:solidFill>
                <a:latin typeface="Aptos"/>
              </a:rPr>
              <a:t>An approach where a computer gets better at a task by finding patterns in examples, instead of following rules a human typed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57984"/>
            <a:ext cx="105914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Learning here means finding useful patterns in data — not understanding the way a person understands something.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9" name="Oval 8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HERO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 i="0">
                <a:solidFill>
                  <a:srgbClr val="1E3A72"/>
                </a:solidFill>
                <a:latin typeface="Aptos Display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1">
                <a:solidFill>
                  <a:srgbClr val="647085"/>
                </a:solidFill>
                <a:latin typeface="Aptos"/>
              </a:rPr>
              <a:t>Built live, one box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6" name="Oval 5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REINFORCEMENT — SHOWN AFTER THE LIVE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What Does Each Box Mean?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35124"/>
            <a:ext cx="2148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135124"/>
            <a:ext cx="1904924" cy="86868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135124"/>
            <a:ext cx="19049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13300" y="2569464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035188" y="24894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96764" y="2135124"/>
            <a:ext cx="1904924" cy="86868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6764" y="2135124"/>
            <a:ext cx="19049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8264" y="2569464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7260152" y="24894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1728" y="2135124"/>
            <a:ext cx="1904924" cy="86868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1728" y="2135124"/>
            <a:ext cx="19049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63227" y="2569464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9485115" y="24894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691" y="2135124"/>
            <a:ext cx="1904924" cy="86868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691" y="2135124"/>
            <a:ext cx="19049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83864"/>
            <a:ext cx="254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A5CB8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9624"/>
            <a:ext cx="25450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Examples given to the 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7964" y="3483864"/>
            <a:ext cx="254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A5CB8"/>
                </a:solidFill>
                <a:latin typeface="Aptos"/>
              </a:rPr>
              <a:t>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7964" y="3849624"/>
            <a:ext cx="25450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Finding useful patterns across those examples.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8" y="3483864"/>
            <a:ext cx="254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A5CB8"/>
                </a:solidFill>
                <a:latin typeface="Aptos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8" y="3849624"/>
            <a:ext cx="25450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What the system builds from what it learned.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731" y="3483864"/>
            <a:ext cx="254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A5CB8"/>
                </a:solidFill>
                <a:latin typeface="Aptos"/>
              </a:rPr>
              <a:t>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731" y="3849624"/>
            <a:ext cx="25450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The model's best guess for a new example.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9" name="Oval 28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CORE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Traditional Programming vs.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24912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TRADITIONAL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PROGRAMMING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724912"/>
            <a:ext cx="2646578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724912"/>
            <a:ext cx="264657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54954" y="318211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776842" y="310211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38418" y="2724912"/>
            <a:ext cx="2646578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38418" y="2724912"/>
            <a:ext cx="264657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HUMAN-WRITTEN</a:t>
            </a:r>
          </a:p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21573" y="318211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8743461" y="310211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5037" y="2724912"/>
            <a:ext cx="2646578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5037" y="2724912"/>
            <a:ext cx="264657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42232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MACHINE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414223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14223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13300" y="459943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5035188" y="451943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96764" y="414223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6764" y="414223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8264" y="459943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60152" y="451943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21728" y="414223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1728" y="414223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63227" y="459943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485115" y="451943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46691" y="414223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691" y="414223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Same shape — the difference is who fills in the middle: a human, or a learning process.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33" name="Oval 32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HERO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Cats vs. Dogs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5227168" cy="2956072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40864"/>
            <a:ext cx="458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LABELED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98064"/>
            <a:ext cx="45870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E3A72"/>
                </a:solidFill>
                <a:latin typeface="Aptos Display"/>
              </a:rPr>
              <a:t>Cats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87088" cy="1127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Many labeled cat photos — varied breeds, colors, poses.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8" y="2066544"/>
            <a:ext cx="5227168" cy="2956072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8" y="2340864"/>
            <a:ext cx="458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LABELED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8" y="2798064"/>
            <a:ext cx="45870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E3A72"/>
                </a:solidFill>
                <a:latin typeface="Aptos Display"/>
              </a:rPr>
              <a:t>Dogs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8" y="3621024"/>
            <a:ext cx="4587088" cy="1127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Many labeled dog photos — just as varied.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68956"/>
            <a:ext cx="10911535" cy="8211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 Display"/>
              </a:rPr>
              <a:t>Now what about a brand-new image?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15" name="Oval 1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PREDICTION ≠ 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A prediction is a best guess</a:t>
            </a:r>
          </a:p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based on learned patterns.</a:t>
            </a:r>
          </a:p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It is not a guarantee.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A recommendation you don't like · a spam filter mistake · the ambiguous cat/dog photo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6" name="Oval 5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GROUNDED, NOT MYSTERIOUS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AI Is Not Magic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2419274" cy="77724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241927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5074" y="2455164"/>
            <a:ext cx="230040" cy="0"/>
          </a:xfrm>
          <a:prstGeom prst="line">
            <a:avLst/>
          </a:prstGeom>
          <a:ln w="2032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3300114" y="23751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0834" y="2066544"/>
            <a:ext cx="2419274" cy="77724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0834" y="2066544"/>
            <a:ext cx="241927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PATTERNS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35828" y="2455164"/>
            <a:ext cx="230040" cy="0"/>
          </a:xfrm>
          <a:prstGeom prst="line">
            <a:avLst/>
          </a:prstGeom>
          <a:ln w="2032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6130868" y="23751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588" y="2066544"/>
            <a:ext cx="2419274" cy="77724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8" y="2066544"/>
            <a:ext cx="241927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66581" y="2455164"/>
            <a:ext cx="230040" cy="0"/>
          </a:xfrm>
          <a:prstGeom prst="line">
            <a:avLst/>
          </a:prstGeom>
          <a:ln w="2032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8961621" y="23751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32341" y="2066544"/>
            <a:ext cx="2419274" cy="77724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2341" y="2066544"/>
            <a:ext cx="241927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300984"/>
            <a:ext cx="105914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1F2733"/>
                </a:solidFill>
                <a:latin typeface="Aptos"/>
              </a:rPr>
              <a:t>Data matters.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895344"/>
            <a:ext cx="105914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1F2733"/>
                </a:solidFill>
                <a:latin typeface="Aptos"/>
              </a:rPr>
              <a:t>Examples matter.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177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89704"/>
            <a:ext cx="105914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1F2733"/>
                </a:solidFill>
                <a:latin typeface="Aptos"/>
              </a:rPr>
              <a:t>Poor data can lead to poor predictions.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6" name="Oval 25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ORIENTATION, NOT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AI / ML / Deep Learning / Generative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80466" y="2066544"/>
            <a:ext cx="3648456" cy="364845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64219" y="2650297"/>
            <a:ext cx="2480950" cy="2480950"/>
          </a:xfrm>
          <a:prstGeom prst="ellipse">
            <a:avLst/>
          </a:prstGeom>
          <a:solidFill>
            <a:srgbClr val="EEF3FB"/>
          </a:solidFill>
          <a:ln w="1905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11487" y="3197565"/>
            <a:ext cx="1386413" cy="1386413"/>
          </a:xfrm>
          <a:prstGeom prst="ellipse">
            <a:avLst/>
          </a:prstGeom>
          <a:solidFill>
            <a:srgbClr val="E4F9FB"/>
          </a:solidFill>
          <a:ln w="1905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0214" y="2386584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0214" y="2924617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0214" y="375361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Deep Learning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5485787" y="4371865"/>
            <a:ext cx="402336" cy="402336"/>
          </a:xfrm>
          <a:prstGeom prst="star5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275" y="4252993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A5CB8"/>
                </a:solidFill>
                <a:latin typeface="Aptos"/>
              </a:rPr>
              <a:t>Generative AI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A5CB8"/>
                </a:solidFill>
                <a:latin typeface="Aptos"/>
              </a:rPr>
              <a:t>(e.g., ChatGPT)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This is a simple learning map, not a complete technical taxonomy — no formal definitions to memorize.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15" name="Oval 1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The Everyday Mental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30652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WHEN HUMANS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KNOW THE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930652"/>
            <a:ext cx="2646578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930652"/>
            <a:ext cx="264657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54954" y="338785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776842" y="330785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38418" y="2930652"/>
            <a:ext cx="2646578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38418" y="2930652"/>
            <a:ext cx="264657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HUMAN-WRITTEN</a:t>
            </a:r>
          </a:p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21573" y="338785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8743461" y="330785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5037" y="2930652"/>
            <a:ext cx="2646578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5037" y="2930652"/>
            <a:ext cx="264657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93692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WHEN RULES ARE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TOO HARD BY HAND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439369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39369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13300" y="485089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5035188" y="477089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96764" y="439369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6764" y="439369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8264" y="485089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60152" y="477089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21728" y="439369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1728" y="439369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63227" y="4850892"/>
            <a:ext cx="15688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485115" y="477089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46691" y="4393692"/>
            <a:ext cx="1904924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691" y="4393692"/>
            <a:ext cx="19049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32" name="Oval 31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CALLBACK TO CLASS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Where Does This Fit?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4436669"/>
            <a:ext cx="1243927" cy="592531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21167" y="4258909"/>
            <a:ext cx="1243927" cy="770291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2254" y="4081150"/>
            <a:ext cx="1243927" cy="94805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83341" y="3903391"/>
            <a:ext cx="1243927" cy="1125809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4428" y="3725631"/>
            <a:ext cx="1243927" cy="1303569"/>
          </a:xfrm>
          <a:prstGeom prst="roundRect">
            <a:avLst>
              <a:gd name="adj" fmla="val 10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5514" y="3547872"/>
            <a:ext cx="1243927" cy="1481328"/>
          </a:xfrm>
          <a:prstGeom prst="roundRect">
            <a:avLst>
              <a:gd name="adj" fmla="val 10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6601" y="3370113"/>
            <a:ext cx="1243927" cy="1659087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07688" y="3192353"/>
            <a:ext cx="1243927" cy="1836847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439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Computer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2526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Mathematics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13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4700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Machine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86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Deep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6873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7960" y="5138928"/>
            <a:ext cx="146338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We are not skipping the steps. We are learning where the staircase leads.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3" name="Oval 22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We Learned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585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12264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Some problems can't realistically be solved by writing every rule by 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1896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72661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Machine Learning finds useful patterns from examples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7936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33057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Data → Learning → Model →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975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93454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Machine Learning doesn't replace programming — it's an extra tool for a specific kind of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001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53850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A prediction is a best guess, not a 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6055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14247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Poor or limited data can lead to poor predictions.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094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74643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AI is not magic — it depends entirely on data and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20" name="Oval 19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EXIT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One Last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112264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Why can hand-written rules become difficult to manage?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066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066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679192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What is the difference between traditional programming and ML?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735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46120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What does Data → Learning → Model → Prediction mean?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1304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Why isn't a prediction guaranteed to be correct?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18" name="Oval 17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We Are Not Skipping the Steps.</a:t>
            </a:r>
          </a:p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We Are Learning Where the Staircase Leads.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FDCF4"/>
                </a:solidFill>
                <a:latin typeface="Aptos"/>
              </a:rPr>
              <a:t>Next, we return to the steps underneath the staircase — programming, computer science, and mathematics.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59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FDCF4"/>
                </a:solidFill>
                <a:latin typeface="Aptos"/>
              </a:rPr>
              <a:t>That's what turns everything you reasoned through today into something you can actually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02</a:t>
            </a:r>
          </a:p>
        </p:txBody>
      </p:sp>
      <p:sp>
        <p:nvSpPr>
          <p:cNvPr id="7" name="Oval 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