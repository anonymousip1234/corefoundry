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Briefly connect back to Class 02 in one sentence before starting.</a:t>
            </a:r>
          </a:p>
          <a:p>
            <a:r>
              <a:t>Board: None.</a:t>
            </a:r>
          </a:p>
          <a:p>
            <a:r>
              <a:t>Transition: How would you answer: how crowded is your college canteen right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3 min (Guide §8)</a:t>
            </a:r>
          </a:p>
          <a:p>
            <a:r>
              <a:t>Purpose: Open with the canteen debate before naming this question.</a:t>
            </a:r>
          </a:p>
          <a:p>
            <a:r>
              <a:t>Ask: How crowded is your college canteen right now? Which of your answers just now counts as data?</a:t>
            </a:r>
          </a:p>
          <a:p>
            <a:r>
              <a:t>Expected: Split opinions - some say only the number counts, some say all of them count.</a:t>
            </a:r>
          </a:p>
          <a:p>
            <a:r>
              <a:t>Board: None.</a:t>
            </a:r>
          </a:p>
          <a:p>
            <a:r>
              <a:t>Transition: Hold that thought - quick rewind to last class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7 min (Guide §9)</a:t>
            </a:r>
          </a:p>
          <a:p>
            <a:r>
              <a:t>Purpose: Re-open the DATA box Class 02 skipped.</a:t>
            </a:r>
          </a:p>
          <a:p>
            <a:r>
              <a:t>Ask: What did Machine Learning start with, last class? Did we ever actually define what data is?</a:t>
            </a:r>
          </a:p>
          <a:p>
            <a:r>
              <a:t>Expected: "Data" / "examples" - then most will realize "not really" to the second question.</a:t>
            </a:r>
          </a:p>
          <a:p>
            <a:r>
              <a:t>Board: None.</a:t>
            </a:r>
          </a:p>
          <a:p>
            <a:r>
              <a:t>Transition: Let's start with a much more basic question: when you hear the word data, what do you picture?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 (Guide §10)</a:t>
            </a:r>
          </a:p>
          <a:p>
            <a:r>
              <a:t>Purpose: Land the class's one working definition - no mention of numbers, spreadsheets, or computers.</a:t>
            </a:r>
          </a:p>
          <a:p>
            <a:r>
              <a:t>Say: Numbers are just one form data can take - not the definition of data.</a:t>
            </a:r>
          </a:p>
          <a:p>
            <a:r>
              <a:t>Board: None.</a:t>
            </a:r>
          </a:p>
          <a:p>
            <a:r>
              <a:t>Transition: So data isn't just numbers - let's actually prove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[CHALLENGE]</a:t>
            </a:r>
          </a:p>
          <a:p>
            <a:r>
              <a:t>TIME: 12 min (Guide §10) — NON-NEGOTIABLE</a:t>
            </a:r>
          </a:p>
          <a:p>
            <a:r>
              <a:t>Purpose: Challenge the numbers-only assumption one example at a time: is a photo data? A voice recording? A sentence? A location?</a:t>
            </a:r>
          </a:p>
          <a:p>
            <a:r>
              <a:t>Expected: Some will insist a photo isn't data until it's 'in' a computer - acknowledge the instinct, then park it (Guide §10).</a:t>
            </a:r>
          </a:p>
          <a:p>
            <a:r>
              <a:t>Board: None.</a:t>
            </a:r>
          </a:p>
          <a:p>
            <a:r>
              <a:t>Transition: But something still had to happen for a fact to become recorded data. What was that something?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12 min (Guide §11) — NON-NEGOTIABLE, HERO MOMENT</a:t>
            </a:r>
          </a:p>
          <a:p>
            <a:r>
              <a:t>Purpose: Build this chain live, one box at a time, using the rain example, then immediately re-run it with the canteen example (next slide).</a:t>
            </a:r>
          </a:p>
          <a:p>
            <a:r>
              <a:t>Say: An observation only becomes useful data once it's recorded in some form that can be stored or worked with later.</a:t>
            </a:r>
          </a:p>
          <a:p>
            <a:r>
              <a:t>Board: Build REAL WORLD → OBSERVE → RECORD → DATA live before showing this clean version.</a:t>
            </a:r>
          </a:p>
          <a:p>
            <a:r>
              <a:t>Transition: Let's re-run this exact chain with the canteen example from the start of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(part of Guide §11)</a:t>
            </a:r>
          </a:p>
          <a:p>
            <a:r>
              <a:t>Purpose: Cement the chain with the class's own opening example before moving on.</a:t>
            </a:r>
          </a:p>
          <a:p>
            <a:r>
              <a:t>Board: None.</a:t>
            </a:r>
          </a:p>
          <a:p>
            <a:r>
              <a:t>Transition: So one real-world thing can turn into several pieces of data. Let's stick with something even more familiar: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11 min (Guide §12)</a:t>
            </a:r>
          </a:p>
          <a:p>
            <a:r>
              <a:t>Purpose: Show one real-world thing can be described by several different pieces of data at once.</a:t>
            </a:r>
          </a:p>
          <a:p>
            <a:r>
              <a:t>Ask: Did the student change while we listed all of that? Did the way we describe the student change?</a:t>
            </a:r>
          </a:p>
          <a:p>
            <a:r>
              <a:t>Expected: No, the student didn't change. Yes, the description did.</a:t>
            </a:r>
          </a:p>
          <a:p>
            <a:r>
              <a:t>Board: None.</a:t>
            </a:r>
          </a:p>
          <a:p>
            <a:r>
              <a:t>Transition: Now - what do we call it when we put many of these together?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11 min (Guide §13)</a:t>
            </a:r>
          </a:p>
          <a:p>
            <a:r>
              <a:t>Purpose: Introduce example/record and dataset using a table students can see at once.</a:t>
            </a:r>
          </a:p>
          <a:p>
            <a:r>
              <a:t>Say: One student, described by its data, is one example. The whole table is a dataset.</a:t>
            </a:r>
          </a:p>
          <a:p>
            <a:r>
              <a:t>Board: None.</a:t>
            </a:r>
          </a:p>
          <a:p>
            <a:r>
              <a:t>Transition: Now let's learn exactly how to read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[REPEAT ALOUD]</a:t>
            </a:r>
          </a:p>
          <a:p>
            <a:r>
              <a:t>TIME: 13 min (Guide §14, Part A) — NON-NEGOTIABLE</a:t>
            </a:r>
          </a:p>
          <a:p>
            <a:r>
              <a:t>Purpose: Land ROW → ONE EXAMPLE and COLUMN → ONE KIND OF INFORMATION - say it slowly, have students repeat it in their own words.</a:t>
            </a:r>
          </a:p>
          <a:p>
            <a:r>
              <a:t>Board: None.</a:t>
            </a:r>
          </a:p>
          <a:p>
            <a:r>
              <a:t>Transition: Try it cold on a table you haven't seen yet - the movie table activity (see Student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§13/§14)</a:t>
            </a:r>
          </a:p>
          <a:p>
            <a:r>
              <a:t>Purpose: Land the dataset definition, connected visually back to the table just shown.</a:t>
            </a:r>
          </a:p>
          <a:p>
            <a:r>
              <a:t>Board: None.</a:t>
            </a:r>
          </a:p>
          <a:p>
            <a:r>
              <a:t>Transition: But real-world data doesn't always look this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HUNT]</a:t>
            </a:r>
          </a:p>
          <a:p>
            <a:r>
              <a:t>TIME: 8 min (Guide §15) — NON-NEGOTIABLE</a:t>
            </a:r>
          </a:p>
          <a:p>
            <a:r>
              <a:t>Purpose: Let students find the problems themselves before naming any.</a:t>
            </a:r>
          </a:p>
          <a:p>
            <a:r>
              <a:t>Expected: Missing age (B), impossible/inconsistent age format, inconsistent city spelling.</a:t>
            </a:r>
          </a:p>
          <a:p>
            <a:r>
              <a:t>Board: None.</a:t>
            </a:r>
          </a:p>
          <a:p>
            <a:r>
              <a:t>Transition: If messy data is a problem, does having a huge amount of data automatically fix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8 min (Guide §16)</a:t>
            </a:r>
          </a:p>
          <a:p>
            <a:r>
              <a:t>Purpose: Quantity is not the same thing as quality or variety.</a:t>
            </a:r>
          </a:p>
          <a:p>
            <a:r>
              <a:t>Say: Remember Class 02's cats-vs-dogs example - the issue was rarely 'not enough photos' alone, it was variety.</a:t>
            </a:r>
          </a:p>
          <a:p>
            <a:r>
              <a:t>Ask: Is one million examples automatically good data? What if 1,000 are accurate and varied instead?</a:t>
            </a:r>
          </a:p>
          <a:p>
            <a:r>
              <a:t>Expected: No to the first; yes, the smaller set is better.</a:t>
            </a:r>
          </a:p>
          <a:p>
            <a:r>
              <a:t>Board: None.</a:t>
            </a:r>
          </a:p>
          <a:p>
            <a:r>
              <a:t>Transition: So far we've described examples in general. Now let's look at a special kind of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(folds into Guide §16/§18)</a:t>
            </a:r>
          </a:p>
          <a:p>
            <a:r>
              <a:t>Purpose: Keep this intuitive - not a formal data-quality framework.</a:t>
            </a:r>
          </a:p>
          <a:p>
            <a:r>
              <a:t>Board: None.</a:t>
            </a:r>
          </a:p>
          <a:p>
            <a:r>
              <a:t>Transition: Now, the special column that holds a known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§17, Part A/B)</a:t>
            </a:r>
          </a:p>
          <a:p>
            <a:r>
              <a:t>Purpose: A feature describes an example - keep it conceptual, no feature engineering.</a:t>
            </a:r>
          </a:p>
          <a:p>
            <a:r>
              <a:t>Board: None.</a:t>
            </a:r>
          </a:p>
          <a:p>
            <a:r>
              <a:t>Transition: Now the other kind of column - the one that holds a known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§17, Part A)</a:t>
            </a:r>
          </a:p>
          <a:p>
            <a:r>
              <a:t>Purpose: A label is the known answer already attached to an example. Not a formal 'supervised learning' introduction.</a:t>
            </a:r>
          </a:p>
          <a:p>
            <a:r>
              <a:t>Board: None.</a:t>
            </a:r>
          </a:p>
          <a:p>
            <a:r>
              <a:t>Transition: Let's put features and a label in the same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4 min (Guide §17, Part B)</a:t>
            </a:r>
          </a:p>
          <a:p>
            <a:r>
              <a:t>Purpose: Distinguish describing-columns (features) from the answer-column (label), highlighted in cyan.</a:t>
            </a:r>
          </a:p>
          <a:p>
            <a:r>
              <a:t>Ask: Which columns describe the example, and which holds the answer we already know?</a:t>
            </a:r>
          </a:p>
          <a:p>
            <a:r>
              <a:t>Expected: Email/Sender/Time are features; Label holds the answer.</a:t>
            </a:r>
          </a:p>
          <a:p>
            <a:r>
              <a:t>Board: None.</a:t>
            </a:r>
          </a:p>
          <a:p>
            <a:r>
              <a:t>Transition: Now - which data should we even bother collecting?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[ENCOURAGE DISAGREEMENT]</a:t>
            </a:r>
          </a:p>
          <a:p>
            <a:r>
              <a:t>TIME: 8 min (Guide §18) — NON-NEGOTIABLE</a:t>
            </a:r>
          </a:p>
          <a:p>
            <a:r>
              <a:t>Purpose: Reasoning about what to collect, before any collecting happens - an early taste of Data Science thinking.</a:t>
            </a:r>
          </a:p>
          <a:p>
            <a:r>
              <a:t>Ask: What data could we collect? Which of it do you actually think would be useful?</a:t>
            </a:r>
          </a:p>
          <a:p>
            <a:r>
              <a:t>Expected: Open debate - do not converge on one official list.</a:t>
            </a:r>
          </a:p>
          <a:p>
            <a:r>
              <a:t>Board: None.</a:t>
            </a:r>
          </a:p>
          <a:p>
            <a:r>
              <a:t>Transition: Would that same data help with a completely different question?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§18, Part A)</a:t>
            </a:r>
          </a:p>
          <a:p>
            <a:r>
              <a:t>Purpose: There's no such thing as 'good data' floating in the abstract.</a:t>
            </a:r>
          </a:p>
          <a:p>
            <a:r>
              <a:t>Board: None.</a:t>
            </a:r>
          </a:p>
          <a:p>
            <a:r>
              <a:t>Transition: One more idea before we reconnect to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(Guide §18, Part B)</a:t>
            </a:r>
          </a:p>
          <a:p>
            <a:r>
              <a:t>Purpose: Data is a lens we choose to look through - keep this practical, not philosophical.</a:t>
            </a:r>
          </a:p>
          <a:p>
            <a:r>
              <a:t>Ask: Does a list like Age/Height/Attendance/Marks completely describe a person?</a:t>
            </a:r>
          </a:p>
          <a:p>
            <a:r>
              <a:t>Expected: No, obviously not.</a:t>
            </a:r>
          </a:p>
          <a:p>
            <a:r>
              <a:t>Board: None.</a:t>
            </a:r>
          </a:p>
          <a:p>
            <a:r>
              <a:t>Transition: Let's put the whole day on one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(Guide §19) — NON-NEGOTIABLE, HERO MOMENT</a:t>
            </a:r>
          </a:p>
          <a:p>
            <a:r>
              <a:t>Purpose: Build this top to bottom, one line at a time - never reveal it finished. The bottom four lines are exactly Class 02's pipeline; today filled in what comes before DATA.</a:t>
            </a:r>
          </a:p>
          <a:p>
            <a:r>
              <a:t>Board: Build live, pausing between each line.</a:t>
            </a:r>
          </a:p>
          <a:p>
            <a:r>
              <a:t>Transition: And inside that same DATA box, today also built a second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(Guide §19)</a:t>
            </a:r>
          </a:p>
          <a:p>
            <a:r>
              <a:t>Purpose: Nothing from Class 02 changes - we filled in where Data actually comes from.</a:t>
            </a:r>
          </a:p>
          <a:p>
            <a:r>
              <a:t>Board: None.</a:t>
            </a:r>
          </a:p>
          <a:p>
            <a:r>
              <a:t>Transition: One last, important distinction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(Guide §19)</a:t>
            </a:r>
          </a:p>
          <a:p>
            <a:r>
              <a:t>Purpose: Data is an ingredient; Machine Learning is the process that uses it.</a:t>
            </a:r>
          </a:p>
          <a:p>
            <a:r>
              <a:t>Ask: If I hand you a dataset right now, do you automatically have Machine Learning?</a:t>
            </a:r>
          </a:p>
          <a:p>
            <a:r>
              <a:t>Expected: No.</a:t>
            </a:r>
          </a:p>
          <a:p>
            <a:r>
              <a:t>Board: None.</a:t>
            </a:r>
          </a:p>
          <a:p>
            <a:r>
              <a:t>Transition: Let's put it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(Guide §19, recap)</a:t>
            </a:r>
          </a:p>
          <a:p>
            <a:r>
              <a:t>Purpose: One visual summary of every keyword and the full chain.</a:t>
            </a:r>
          </a:p>
          <a:p>
            <a:r>
              <a:t>Board: None.</a:t>
            </a:r>
          </a:p>
          <a:p>
            <a:r>
              <a:t>Transition: A few questions to sit with before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(Guide §19, final recap)</a:t>
            </a:r>
          </a:p>
          <a:p>
            <a:r>
              <a:t>Purpose: Test understanding, not memorization - accept answers in the student's own words.</a:t>
            </a:r>
          </a:p>
          <a:p>
            <a:r>
              <a:t>Board: None.</a:t>
            </a:r>
          </a:p>
          <a:p>
            <a:r>
              <a:t>Transition: One final line to close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this exact line, said slowly.</a:t>
            </a:r>
          </a:p>
          <a:p>
            <a:r>
              <a:t>Say: That's the whole of today's class in one sentence.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From the Real World → Information →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How do we turn something happening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in the real world into something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a computer can work with?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CALLBACK — CLASS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Data → Learning → Model →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2350694" cy="1188720"/>
          </a:xfrm>
          <a:prstGeom prst="roundRect">
            <a:avLst>
              <a:gd name="adj" fmla="val 9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41448"/>
            <a:ext cx="2350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5638" y="266090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3313830" y="25809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694" y="2066544"/>
            <a:ext cx="2350694" cy="11887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694" y="2441448"/>
            <a:ext cx="2350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9252" y="266090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6167444" y="25809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7308" y="2066544"/>
            <a:ext cx="2350694" cy="11887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8" y="2441448"/>
            <a:ext cx="2350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2865" y="266090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9021057" y="25809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00921" y="2066544"/>
            <a:ext cx="2350694" cy="11887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0921" y="2441448"/>
            <a:ext cx="2350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66744"/>
            <a:ext cx="109115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What exactly is DATA?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Data?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0" b="1" i="0">
                <a:solidFill>
                  <a:srgbClr val="1E3A72"/>
                </a:solidFill>
                <a:latin typeface="Aptos Display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F2733"/>
                </a:solidFill>
                <a:latin typeface="Aptos"/>
              </a:rPr>
              <a:t>RECORDED INFORMATION</a:t>
            </a:r>
          </a:p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F2733"/>
                </a:solidFill>
                <a:latin typeface="Aptos"/>
              </a:rPr>
              <a:t>ABOUT SOMETHING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BREAKING AN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Data Is Not Just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47802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544" y="247802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6544" y="247802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247802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8" y="247802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9471" y="247802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9471" y="247802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8312" y="366674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8312" y="366674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4776" y="366674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4776" y="366674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MEASUREMENT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1239" y="3666744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1239" y="3666744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 i="0">
                <a:solidFill>
                  <a:srgbClr val="1E3A72"/>
                </a:solidFill>
                <a:latin typeface="Aptos Display"/>
              </a:rPr>
              <a:t>DATA ≠ ONLY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FIRST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Real World → Observation →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528" y="2404872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28" y="2404872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31181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33954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528" y="3547872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8" y="3547872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8" y="42611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15848" y="45384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5528" y="4690872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28" y="4690872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e.g., "It is raining outside" → someone checks → it gets recorded.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APPLYING 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 Canteen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46808" y="1837944"/>
            <a:ext cx="7498079" cy="741164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66848" y="1947672"/>
            <a:ext cx="6857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8" y="2221992"/>
            <a:ext cx="6857999" cy="28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E3A72"/>
                </a:solidFill>
                <a:latin typeface="Aptos Display"/>
              </a:rPr>
              <a:t>Crowded canteen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8" y="2612312"/>
            <a:ext cx="0" cy="120293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6015848" y="2697605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46808" y="2855809"/>
            <a:ext cx="7498079" cy="741164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6848" y="2965537"/>
            <a:ext cx="6857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848" y="3239857"/>
            <a:ext cx="6857999" cy="28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E3A72"/>
                </a:solidFill>
                <a:latin typeface="Aptos Display"/>
              </a:rPr>
              <a:t>What we notice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3630178"/>
            <a:ext cx="0" cy="120292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371547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46808" y="3873675"/>
            <a:ext cx="7498079" cy="741164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6848" y="3983403"/>
            <a:ext cx="6857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6848" y="4257723"/>
            <a:ext cx="6857999" cy="28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E3A72"/>
                </a:solidFill>
                <a:latin typeface="Aptos Display"/>
              </a:rPr>
              <a:t>“80% full”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8" y="4648043"/>
            <a:ext cx="0" cy="120293"/>
          </a:xfrm>
          <a:prstGeom prst="line">
            <a:avLst/>
          </a:prstGeom>
          <a:ln w="2032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6015848" y="473333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46808" y="4891540"/>
            <a:ext cx="7498079" cy="741164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6848" y="5001268"/>
            <a:ext cx="6857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6848" y="5275588"/>
            <a:ext cx="6857999" cy="28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E3A72"/>
                </a:solidFill>
                <a:latin typeface="Aptos Display"/>
              </a:rPr>
              <a:t>“80% full”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 Display"/>
              </a:rPr>
              <a:t>DATA IS A REPRESENTATION OF REALITY.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ONE REAL THING, MANY DATA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Thing → Many Pieces of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15688" y="2066544"/>
            <a:ext cx="2560320" cy="777240"/>
          </a:xfrm>
          <a:prstGeom prst="roundRect">
            <a:avLst>
              <a:gd name="adj" fmla="val 14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15688" y="2066544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STUDENT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2843784"/>
            <a:ext cx="0" cy="1275588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98168" y="4119372"/>
            <a:ext cx="8595360" cy="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98168" y="4119372"/>
            <a:ext cx="0" cy="116730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1718168" y="52516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947008" y="4119372"/>
            <a:ext cx="0" cy="116730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3867008" y="52516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095848" y="4119372"/>
            <a:ext cx="0" cy="116730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52516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244688" y="4119372"/>
            <a:ext cx="0" cy="116730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8164688" y="52516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393528" y="4119372"/>
            <a:ext cx="0" cy="1167300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10313528" y="52516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6628" y="5394960"/>
            <a:ext cx="1783080" cy="77724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28" y="5394960"/>
            <a:ext cx="1783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5468" y="5394960"/>
            <a:ext cx="1783080" cy="77724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5468" y="5394960"/>
            <a:ext cx="1783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Year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04308" y="5394960"/>
            <a:ext cx="1783080" cy="77724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4308" y="5394960"/>
            <a:ext cx="1783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Attendance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3148" y="5394960"/>
            <a:ext cx="1783080" cy="77724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3148" y="5394960"/>
            <a:ext cx="1783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Department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1988" y="5394960"/>
            <a:ext cx="1783080" cy="77724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1988" y="5394960"/>
            <a:ext cx="1783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Marks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PUTTING EXAMPLES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From Examples to a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2592324"/>
            <a:ext cx="26730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489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6" y="2592324"/>
            <a:ext cx="26730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7964" y="256489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3280" y="2592324"/>
            <a:ext cx="26730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48" y="256489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163" y="2592324"/>
            <a:ext cx="26730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731" y="256489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36956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4213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5396" y="336956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7964" y="334213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3280" y="336956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8" y="334213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82%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163" y="336956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731" y="334213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76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14680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937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5396" y="414680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7964" y="411937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3280" y="414680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5848" y="411937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91%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51163" y="414680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731" y="411937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84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492404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9661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5396" y="492404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7964" y="489661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3280" y="492404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5848" y="489661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68%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1163" y="4924044"/>
            <a:ext cx="26730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731" y="4896612"/>
            <a:ext cx="27278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READING THE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How to Read the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53512" y="2889504"/>
            <a:ext cx="21015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86207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9896" y="2889504"/>
            <a:ext cx="21015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2464" y="286207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6280" y="2889504"/>
            <a:ext cx="21015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8848" y="286207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22663" y="2889504"/>
            <a:ext cx="2101520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5231" y="286207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366674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63931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9896" y="366674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2464" y="363931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6280" y="366674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8848" y="363931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82%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2663" y="366674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5231" y="363931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76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444398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41655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9896" y="444398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2464" y="441655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6280" y="444398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8848" y="441655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91%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22663" y="444398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5231" y="441655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84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53512" y="522122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19379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09896" y="522122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2464" y="519379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6280" y="522122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8848" y="519379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68%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22663" y="5221224"/>
            <a:ext cx="2101520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5231" y="5193792"/>
            <a:ext cx="2156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639312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ROW →</a:t>
            </a:r>
          </a:p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ONE EXAMPLE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70048" y="4027932"/>
            <a:ext cx="120312" cy="0"/>
          </a:xfrm>
          <a:prstGeom prst="line">
            <a:avLst/>
          </a:prstGeom>
          <a:ln w="25400">
            <a:solidFill>
              <a:srgbClr val="22C7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2755360" y="3947932"/>
            <a:ext cx="160000" cy="160000"/>
          </a:xfrm>
          <a:prstGeom prst="triangl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0208" y="2066544"/>
            <a:ext cx="3253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COLUMN → ONE KIND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OF INFORMATION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17039" y="2615184"/>
            <a:ext cx="0" cy="129456"/>
          </a:xfrm>
          <a:prstGeom prst="line">
            <a:avLst/>
          </a:prstGeom>
          <a:ln w="25400">
            <a:solidFill>
              <a:srgbClr val="22C7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0800000">
            <a:off x="8237039" y="2709640"/>
            <a:ext cx="160000" cy="160000"/>
          </a:xfrm>
          <a:prstGeom prst="triangl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a Dataset?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6200" b="1" i="0">
                <a:solidFill>
                  <a:srgbClr val="1E3A72"/>
                </a:solidFill>
                <a:latin typeface="Aptos Display"/>
              </a:rP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1F2733"/>
                </a:solidFill>
                <a:latin typeface="Aptos"/>
              </a:rPr>
              <a:t>COLLECTION OF</a:t>
            </a:r>
          </a:p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1F2733"/>
                </a:solidFill>
                <a:latin typeface="Aptos"/>
              </a:rPr>
              <a:t>RELATED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NECESSARY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Real-World Data Can Be Messy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47672" y="1911096"/>
            <a:ext cx="2728874" cy="56235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88366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31410" y="1911096"/>
            <a:ext cx="2728874" cy="56235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188366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15149" y="1911096"/>
            <a:ext cx="2728874" cy="56235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87717" y="188366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7672" y="252831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50088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1410" y="252831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978" y="250088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5149" y="252831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7717" y="250088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Kolkata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7672" y="314553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11810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1410" y="314553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BEEDC"/>
          </a:solidFill>
          <a:ln w="1905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3978" y="311810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C2790F"/>
                </a:solidFill>
                <a:latin typeface="Aptos"/>
              </a:rPr>
              <a:t>“eighteen”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5149" y="314553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BEEDC"/>
          </a:solidFill>
          <a:ln w="1905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7717" y="311810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C2790F"/>
                </a:solidFill>
                <a:latin typeface="Aptos"/>
              </a:rPr>
              <a:t>kolkata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7672" y="376275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73532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1410" y="376275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BEEDC"/>
          </a:solidFill>
          <a:ln w="1905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3978" y="373532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C2790F"/>
                </a:solidFill>
                <a:latin typeface="Aptos"/>
              </a:rPr>
              <a:t>— missing 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5149" y="3762756"/>
            <a:ext cx="2728874" cy="562356"/>
          </a:xfrm>
          <a:prstGeom prst="roundRect">
            <a:avLst>
              <a:gd name="adj" fmla="val 6000"/>
            </a:avLst>
          </a:prstGeom>
          <a:solidFill>
            <a:srgbClr val="FBEEDC"/>
          </a:solidFill>
          <a:ln w="1905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7717" y="3735324"/>
            <a:ext cx="27837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C2790F"/>
                </a:solidFill>
                <a:latin typeface="Aptos"/>
              </a:rPr>
              <a:t>Calcutta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354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 i="0">
                <a:solidFill>
                  <a:srgbClr val="1E3A72"/>
                </a:solidFill>
                <a:latin typeface="Aptos Display"/>
              </a:rPr>
              <a:t>What looks wrong here?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QUANTITY VS.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More Data ≠ Automatically Better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QUANTITY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1,000,000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Wrong, repetitive, or nearly all the same.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QUALITY + VARIETY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1,000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Accurate, and covering real variety.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THREE WORDS WORTH REMEMBERING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Makes Data Useful?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3357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Relevant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9372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Fits the question being asked.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343357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119372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Actually helps answer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7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8277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7" y="343357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Representative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7" y="4119372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Covers the variety that matters.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DESCRIBING AN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9384"/>
            <a:ext cx="10911535" cy="1036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6200" b="1" i="0">
                <a:solidFill>
                  <a:srgbClr val="1E3A72"/>
                </a:solidFill>
                <a:latin typeface="Aptos Display"/>
              </a:rP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065069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3669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INFORMATION DESCRIBING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AN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e.g., "Congratulations! You won a prize." → words used, sender, and phrases are all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KNOWN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83664"/>
            <a:ext cx="109115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200" b="1" i="0">
                <a:solidFill>
                  <a:srgbClr val="1E3A72"/>
                </a:solidFill>
                <a:latin typeface="Aptos Display"/>
              </a:rPr>
              <a:t>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2724912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5351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>KNOWN ANSWER / CATEGORY,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>WHEN ONE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648" y="3895344"/>
            <a:ext cx="2560320" cy="822960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 w="19050">
            <a:solidFill>
              <a:srgbClr val="C27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648" y="3895344"/>
            <a:ext cx="2560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C2790F"/>
                </a:solidFill>
                <a:latin typeface="Aptos"/>
              </a:rPr>
              <a:t>Spam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8" y="3895344"/>
            <a:ext cx="2560320" cy="822960"/>
          </a:xfrm>
          <a:prstGeom prst="roundRect">
            <a:avLst>
              <a:gd name="adj" fmla="val 50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8" y="3895344"/>
            <a:ext cx="2560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Not Spam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TWO DIFFERENT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Features vs.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2002536"/>
            <a:ext cx="2673020" cy="6461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6" y="2002536"/>
            <a:ext cx="2673020" cy="6461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7964" y="197510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Sender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3280" y="2002536"/>
            <a:ext cx="2673020" cy="6461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48" y="197510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163" y="2002536"/>
            <a:ext cx="2673020" cy="6461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731" y="197510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70357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614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“Win free money!”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5396" y="270357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7964" y="267614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Unknown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3280" y="270357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8" y="267614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2:14 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163" y="270357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731" y="267614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Spam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40461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7718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“Meeting at 3 PM”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5396" y="340461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7964" y="337718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Colleague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3280" y="340461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5848" y="337718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9:02 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51163" y="3404616"/>
            <a:ext cx="2673020" cy="646176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731" y="3377184"/>
            <a:ext cx="2727884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Not Spam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61104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647085"/>
                </a:solidFill>
                <a:latin typeface="Aptos"/>
              </a:rPr>
              <a:t>Not every dataset has a label.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Can We Predict Canteen Crowding?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454298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45429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2286000"/>
            <a:ext cx="3454298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8698" y="2286000"/>
            <a:ext cx="345429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7" y="2286000"/>
            <a:ext cx="3454298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7317" y="2286000"/>
            <a:ext cx="345429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STUDENTS ON CAMPUS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389" y="3474720"/>
            <a:ext cx="3454298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4389" y="3474720"/>
            <a:ext cx="345429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CLASS BREAK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8" y="3474720"/>
            <a:ext cx="3454298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8" y="3474720"/>
            <a:ext cx="345429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0" i="1">
                <a:solidFill>
                  <a:srgbClr val="647085"/>
                </a:solidFill>
                <a:latin typeface="Aptos"/>
              </a:rPr>
              <a:t>Not the only correct list — the point is asking the right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QUESTION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Different Question → Different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CANTEEN CROWDING?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Time · Day · Weather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Class breaks, footfall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WILL A STUDENT LIKE THIS MOVIE?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Genre · Mood ·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Past ratings, favorite actors.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THE QUESTION DETERMINES WHAT DATA IS USEFUL.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LENS, NOT A 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Data Is a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83664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REAL WORLD ≠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6768" y="3140964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6768" y="3140964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16272" y="362102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184464" y="35410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64328" y="2889504"/>
            <a:ext cx="1463040" cy="1463040"/>
          </a:xfrm>
          <a:prstGeom prst="ellipse">
            <a:avLst/>
          </a:prstGeom>
          <a:solidFill>
            <a:srgbClr val="E4F9FB"/>
          </a:solidFill>
          <a:ln w="22225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4328" y="2889504"/>
            <a:ext cx="1463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DATA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LENS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82232" y="3621024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7150424" y="35410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30288" y="3140964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0288" y="3140964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RECORDED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640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EVERY REPRESENTATION LEAVES SOMETHING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8408" y="1417320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18408" y="1417320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8" y="198661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203433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8408" y="218677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8" y="218677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8" y="275606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80378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8408" y="295622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8" y="295622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3525520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35732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8408" y="3725672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8408" y="3725672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429497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434269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18408" y="449512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8408" y="449512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506442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511214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18408" y="526457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8408" y="526457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Card = already known from Class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CLASS 02 + CLASS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We Added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37994"/>
            <a:ext cx="155448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CLASS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237994"/>
            <a:ext cx="2087804" cy="74295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237994"/>
            <a:ext cx="208780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01820" y="2609469"/>
            <a:ext cx="11116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4577988" y="252946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9564" y="2237994"/>
            <a:ext cx="2087804" cy="74295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9564" y="2237994"/>
            <a:ext cx="208780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63944" y="2609469"/>
            <a:ext cx="11116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6940112" y="252946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01688" y="2237994"/>
            <a:ext cx="2087804" cy="74295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1688" y="2237994"/>
            <a:ext cx="208780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26067" y="2609469"/>
            <a:ext cx="11116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9302235" y="252946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63811" y="2237994"/>
            <a:ext cx="2087804" cy="74295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3811" y="2237994"/>
            <a:ext cx="208780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155448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TODAY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3621024"/>
            <a:ext cx="2875178" cy="742950"/>
          </a:xfrm>
          <a:prstGeom prst="roundRect">
            <a:avLst>
              <a:gd name="adj" fmla="val 12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621024"/>
            <a:ext cx="28751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89194" y="3992499"/>
            <a:ext cx="11116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5365362" y="39124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26938" y="3621024"/>
            <a:ext cx="2875178" cy="742950"/>
          </a:xfrm>
          <a:prstGeom prst="roundRect">
            <a:avLst>
              <a:gd name="adj" fmla="val 12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6938" y="3621024"/>
            <a:ext cx="28751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8693" y="3992499"/>
            <a:ext cx="11116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8514861" y="391249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76437" y="3621024"/>
            <a:ext cx="2875178" cy="74295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6437" y="3621024"/>
            <a:ext cx="28751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18304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1">
                <a:solidFill>
                  <a:srgbClr val="647085"/>
                </a:solidFill>
                <a:latin typeface="Aptos"/>
              </a:rPr>
              <a:t>Together, they form one continuous chain.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AN IMPORTANT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Data ≠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INGREDIENT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Recorded information about something.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THE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Learns patterns from data to build a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7251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4422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4422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593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593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8764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8764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4933" y="4078224"/>
            <a:ext cx="745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2324525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04389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4389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49242" y="4078224"/>
            <a:ext cx="745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188834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68698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8698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13552" y="4078224"/>
            <a:ext cx="745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6053144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3008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3008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77861" y="4078224"/>
            <a:ext cx="745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917453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7317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7317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2170" y="4078224"/>
            <a:ext cx="745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781762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61626" y="3598164"/>
            <a:ext cx="1589989" cy="96012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1626" y="3858768"/>
            <a:ext cx="15899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THINK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Think About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12264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Can a photograph be data?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626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935224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What does one row represent?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758184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What's the difference between a feature and a label?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08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581144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Why isn't more data automatically better?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“Before we can teach a machine from data,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we first have to understand what data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we’re giving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