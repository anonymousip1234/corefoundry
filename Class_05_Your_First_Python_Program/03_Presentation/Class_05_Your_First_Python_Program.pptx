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Open with the 'follow this instruction literally' bit (Guide §8) before this slide is even shown, if possible.</a:t>
            </a:r>
          </a:p>
          <a:p>
            <a:r>
              <a:t>Transition: If a computer only does exactly what it's told, how do we tell it something it can actually follow?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(closes Guide §8)</a:t>
            </a:r>
          </a:p>
          <a:p>
            <a:r>
              <a:t>Purpose: Land the central question of the whole class right after the opening 'stand up' demonstration.</a:t>
            </a:r>
          </a:p>
          <a:p>
            <a:r>
              <a:t>Board: None.</a:t>
            </a:r>
          </a:p>
          <a:p>
            <a:r>
              <a:t>Transition: Let's back up to something we drew in Class 01 and never actually opened.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5 min (Guide §9)</a:t>
            </a:r>
          </a:p>
          <a:p>
            <a:r>
              <a:t>Purpose: Re-open Class 01's chain and point directly at the box that's never been written for real.</a:t>
            </a:r>
          </a:p>
          <a:p>
            <a:r>
              <a:t>Ask: Have we ever written an actual program in this course? What's the difference between an algorithm and a program?</a:t>
            </a:r>
          </a:p>
          <a:p>
            <a:r>
              <a:t>Expected: No. An algorithm is steps a person can follow; a program is those steps precise enough for a computer to follow.</a:t>
            </a:r>
          </a:p>
          <a:p>
            <a:r>
              <a:t>Board: None.</a:t>
            </a:r>
          </a:p>
          <a:p>
            <a:r>
              <a:t>Transition: If a computer only does exactly what it's told, what would a language built for it need to be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§10)</a:t>
            </a:r>
          </a:p>
          <a:p>
            <a:r>
              <a:t>Purpose: Land the core idea before naming Python - precision, not English, is the point.</a:t>
            </a:r>
          </a:p>
          <a:p>
            <a:r>
              <a:t>Say: It's still a real language humans read and write - just far less forgiving about exactly how you write it than English is.</a:t>
            </a:r>
          </a:p>
          <a:p>
            <a:r>
              <a:t>Board: None.</a:t>
            </a:r>
          </a:p>
          <a:p>
            <a:r>
              <a:t>Transition: Here's the same instruction, in English and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(part of Guide §10)</a:t>
            </a:r>
          </a:p>
          <a:p>
            <a:r>
              <a:t>Purpose: A concrete, memorable contrast before Python is formally named.</a:t>
            </a:r>
          </a:p>
          <a:p>
            <a:r>
              <a:t>Board: None.</a:t>
            </a:r>
          </a:p>
          <a:p>
            <a:r>
              <a:t>Transition: There are many programming languages. Today we're using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§11)</a:t>
            </a:r>
          </a:p>
          <a:p>
            <a:r>
              <a:t>Purpose: Name the tool briefly and reassuringly - not a history lecture.</a:t>
            </a:r>
          </a:p>
          <a:p>
            <a:r>
              <a:t>Say: Python isn't the only programming language - it's one of many. We're starting here because it gets out of the way and lets the underlying ideas show through.</a:t>
            </a:r>
          </a:p>
          <a:p>
            <a:r>
              <a:t>Board: None.</a:t>
            </a:r>
          </a:p>
          <a:p>
            <a:r>
              <a:t>Transition: Let's open it up and see where we'll actually be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 (Guide §12)</a:t>
            </a:r>
          </a:p>
          <a:p>
            <a:r>
              <a:t>Purpose: A 60-second orientation, not an install session - software should already be open from before class.</a:t>
            </a:r>
          </a:p>
          <a:p>
            <a:r>
              <a:t>Ask: Which area is where you type? Which shows what happened?</a:t>
            </a:r>
          </a:p>
          <a:p>
            <a:r>
              <a:t>Expected: Editor (top); output (bottom/console).</a:t>
            </a:r>
          </a:p>
          <a:p>
            <a:r>
              <a:t>Board: Live screen - point at the real editor and output areas as you talk, not just this slide.</a:t>
            </a:r>
          </a:p>
          <a:p>
            <a:r>
              <a:t>Transition: Let's write the very first line of code any of you will ever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 [ASK]</a:t>
            </a:r>
          </a:p>
          <a:p>
            <a:r>
              <a:t>TIME: 8 min (Guide §13) — NON-NEGOTIABLE</a:t>
            </a:r>
          </a:p>
          <a:p>
            <a:r>
              <a:t>Purpose: Every student types this exact line themselves - the single most important 60 seconds of the class. Walk the room.</a:t>
            </a:r>
          </a:p>
          <a:p>
            <a:r>
              <a:t>Say: print tells Python 'display something.' The parentheses hold what to display. The quotes mark it as text - we'll come back to why in a few minutes.</a:t>
            </a:r>
          </a:p>
          <a:p>
            <a:r>
              <a:t>Ask: Before I run this - what do you think will happen?</a:t>
            </a:r>
          </a:p>
          <a:p>
            <a:r>
              <a:t>Expected: It will show 'Hello, World!'</a:t>
            </a:r>
          </a:p>
          <a:p>
            <a:r>
              <a:t>Board: Live screen - type it slowly, narrating every character.</a:t>
            </a:r>
          </a:p>
          <a:p>
            <a:r>
              <a:t>Transition: Let's actually run it and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7 min (Guide §14) — NON-NEGOTIABLE</a:t>
            </a:r>
          </a:p>
          <a:p>
            <a:r>
              <a:t>Purpose: Output appears because of code the student personally wrote and ran - land this explicitly.</a:t>
            </a:r>
          </a:p>
          <a:p>
            <a:r>
              <a:t>Say: Remember INPUT → PROCESS → OUTPUT from Class 01? You just watched it happen for real. Now personalize it: print("Hello, my name is ___!") with your own name, and run it again.</a:t>
            </a:r>
          </a:p>
          <a:p>
            <a:r>
              <a:t>Ask: What just happened when you pressed run?</a:t>
            </a:r>
          </a:p>
          <a:p>
            <a:r>
              <a:t>Expected: The computer carried out the instruction and displayed the text.</a:t>
            </a:r>
          </a:p>
          <a:p>
            <a:r>
              <a:t>Board: Live screen.</a:t>
            </a:r>
          </a:p>
          <a:p>
            <a:r>
              <a:t>Transition: Let's go back to those quotes - what happens if we leave them 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[BREAK ON PURPOSE]</a:t>
            </a:r>
          </a:p>
          <a:p>
            <a:r>
              <a:t>TIME: 6 min (Guide §15)</a:t>
            </a:r>
          </a:p>
          <a:p>
            <a:r>
              <a:t>Purpose: Show the quotes matter by removing them, live, and watching it break.</a:t>
            </a:r>
          </a:p>
          <a:p>
            <a:r>
              <a:t>Say: Without quotes, Python doesn't know 'Hello, World!' is just text - it tries to treat those words as more instructions and gets confused. Single and double quotes both work - just match what you open with what you close with.</a:t>
            </a:r>
          </a:p>
          <a:p>
            <a:r>
              <a:t>Ask: Why did removing the quotes cause a problem?</a:t>
            </a:r>
          </a:p>
          <a:p>
            <a:r>
              <a:t>Expected: Python no longer knows that text is literal text, not code.</a:t>
            </a:r>
          </a:p>
          <a:p>
            <a:r>
              <a:t>Board: Live screen.</a:t>
            </a:r>
          </a:p>
          <a:p>
            <a:r>
              <a:t>Transition: One instruction is great. Real programs have many. Let's add more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[ASK]</a:t>
            </a:r>
          </a:p>
          <a:p>
            <a:r>
              <a:t>TIME: 7 min (Guide §16) — NON-NEGOTIABLE</a:t>
            </a:r>
          </a:p>
          <a:p>
            <a:r>
              <a:t>Purpose: Build this live, one line at a time - predict the order before running.</a:t>
            </a:r>
          </a:p>
          <a:p>
            <a:r>
              <a:t>Say: This is exactly what 'algorithm' meant in Class 01 - a sequence of steps, followed in order. Python runs top to bottom, exactly as written.</a:t>
            </a:r>
          </a:p>
          <a:p>
            <a:r>
              <a:t>Ask: Before I run this - in what order do you think these three lines will appear?</a:t>
            </a:r>
          </a:p>
          <a:p>
            <a:r>
              <a:t>Expected: Top to bottom, in the order they're written.</a:t>
            </a:r>
          </a:p>
          <a:p>
            <a:r>
              <a:t>Board: Live screen.</a:t>
            </a:r>
          </a:p>
          <a:p>
            <a:r>
              <a:t>Transition: What do you think would happen if I swapped lines 1 and 3?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(bridges Guide §16 → §17)</a:t>
            </a:r>
          </a:p>
          <a:p>
            <a:r>
              <a:t>Purpose: One more prediction rep before moving on to comments.</a:t>
            </a:r>
          </a:p>
          <a:p>
            <a:r>
              <a:t>Expected: The output order swaps to match the new code order.</a:t>
            </a:r>
          </a:p>
          <a:p>
            <a:r>
              <a:t>Board: None.</a:t>
            </a:r>
          </a:p>
          <a:p>
            <a:r>
              <a:t>Transition: Sometimes you want to leave yourself a note in the code that Python should completely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7 min (Guide §17) — NON-NEGOTIABLE</a:t>
            </a:r>
          </a:p>
          <a:p>
            <a:r>
              <a:t>Purpose: Prove comments produce nothing by running code with and without them and comparing output.</a:t>
            </a:r>
          </a:p>
          <a:p>
            <a:r>
              <a:t>Say: Anything after a # on a line is a comment - Python skips it completely. It's not an instruction. It's a note for whoever reads the code next - a teammate, or you, months from now.</a:t>
            </a:r>
          </a:p>
          <a:p>
            <a:r>
              <a:t>Ask: Why might a programmer want notes the computer completely ignores?</a:t>
            </a:r>
          </a:p>
          <a:p>
            <a:r>
              <a:t>Expected: To explain what the code does, for teammates or future-you.</a:t>
            </a:r>
          </a:p>
          <a:p>
            <a:r>
              <a:t>Board: Live screen.</a:t>
            </a:r>
          </a:p>
          <a:p>
            <a:r>
              <a:t>Transition: Let's deliberately break something else - your first error should happen on purpose, in a safe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[BREAK ON PURPOSE]</a:t>
            </a:r>
          </a:p>
          <a:p>
            <a:r>
              <a:t>TIME: 8 min (Guide §18) — NON-NEGOTIABLE</a:t>
            </a:r>
          </a:p>
          <a:p>
            <a:r>
              <a:t>Purpose: Show two small, clear errors on purpose, before any student hits one by accident.</a:t>
            </a:r>
          </a:p>
          <a:p>
            <a:r>
              <a:t>Say: Read each one out loud, slowly. It's not yelling at you - it's telling you exactly what rule got broken. Python is case-sensitive: print and Print are completely different words to it.</a:t>
            </a:r>
          </a:p>
          <a:p>
            <a:r>
              <a:t>Ask: Does an error mean you broke the computer? What's the fastest way to start understanding one?</a:t>
            </a:r>
          </a:p>
          <a:p>
            <a:r>
              <a:t>Expected: No, it's normal feedback. Read the last line first - it usually names the actual problem.</a:t>
            </a:r>
          </a:p>
          <a:p>
            <a:r>
              <a:t>Board: Live screen.</a:t>
            </a:r>
          </a:p>
          <a:p>
            <a:r>
              <a:t>Transition: Every programmer has seen hundreds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§18)</a:t>
            </a:r>
          </a:p>
          <a:p>
            <a:r>
              <a:t>Purpose: One clean, quotable statement to close the errors discussion and defuse anxiety before the hands-on activity.</a:t>
            </a:r>
          </a:p>
          <a:p>
            <a:r>
              <a:t>Board: None.</a:t>
            </a:r>
          </a:p>
          <a:p>
            <a:r>
              <a:t>Transition: Notice what you just did without even thinking about it - that cycle has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§19)</a:t>
            </a:r>
          </a:p>
          <a:p>
            <a:r>
              <a:t>Purpose: Name a pattern students have already lived through four or five times in the last 30 minutes.</a:t>
            </a:r>
          </a:p>
          <a:p>
            <a:r>
              <a:t>Ask: What are the steps of this loop, in your own words? Is needing to fix something a sign you did it wrong?</a:t>
            </a:r>
          </a:p>
          <a:p>
            <a:r>
              <a:t>Expected: Write, run, read the result, fix if needed, run again. No - it's the normal, expected cycle.</a:t>
            </a:r>
          </a:p>
          <a:p>
            <a:r>
              <a:t>Board: None.</a:t>
            </a:r>
          </a:p>
          <a:p>
            <a:r>
              <a:t>Transition: Let's put the whole day on one chain - starting all the way back at Class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7 min (Guide §20) — NON-NEGOTIABLE, HERO MOMENT</a:t>
            </a:r>
          </a:p>
          <a:p>
            <a:r>
              <a:t>Purpose: Build this top to bottom, one line at a time - never reveal it finished. The top three lines are exactly Class 01's chain; today opened PROGRAM into something real.</a:t>
            </a:r>
          </a:p>
          <a:p>
            <a:r>
              <a:t>Board: Whiteboard - the one non-screen drawing before the activity.</a:t>
            </a:r>
          </a:p>
          <a:p>
            <a:r>
              <a:t>Transition: Time to try this yourselves.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18 min (Guide §21) — NON-NEGOTIABLE, HERO ACTIVITY</a:t>
            </a:r>
          </a:p>
          <a:p>
            <a:r>
              <a:t>Purpose: Every student writes and runs an original, multi-line program - no copying the class example verbatim. Circulate constantly.</a:t>
            </a:r>
          </a:p>
          <a:p>
            <a:r>
              <a:t>Say: Stuck? What are three true things about you a stranger couldn't guess?</a:t>
            </a:r>
          </a:p>
          <a:p>
            <a:r>
              <a:t>Board: Circulate and read screens rather than calling on students verbally.</a:t>
            </a:r>
          </a:p>
          <a:p>
            <a:r>
              <a:t>Transition: Here's a template if you want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(support for Guide §21)</a:t>
            </a:r>
          </a:p>
          <a:p>
            <a:r>
              <a:t>Purpose: A worked template for students who want a starting point - not the only correct answer, and not required.</a:t>
            </a:r>
          </a:p>
          <a:p>
            <a:r>
              <a:t>Board: None.</a:t>
            </a:r>
          </a:p>
          <a:p>
            <a:r>
              <a:t>Transition: Let a few students run their program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(closes Guide §21)</a:t>
            </a:r>
          </a:p>
          <a:p>
            <a:r>
              <a:t>Purpose: Land the realization the activity was built for - the computer only ever does exactly what's written.</a:t>
            </a:r>
          </a:p>
          <a:p>
            <a:r>
              <a:t>Expected: No - only exactly what was written, nothing more.</a:t>
            </a:r>
          </a:p>
          <a:p>
            <a:r>
              <a:t>Board: None.</a:t>
            </a:r>
          </a:p>
          <a:p>
            <a:r>
              <a:t>Transition: Let's check a couple of misconceptions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4 min (Guide §23) — NON-NEGOTIABLE</a:t>
            </a:r>
          </a:p>
          <a:p>
            <a:r>
              <a:t>Purpose: One visual summary of every keyword and the full bridged chain.</a:t>
            </a:r>
          </a:p>
          <a:p>
            <a:r>
              <a:t>Ask: Why can't we just type English at a computer? What does print() do? Why do strings need quotes? What order do instructions run in? What does Python do with a comment? Is an error a sign something's badly wrong?</a:t>
            </a:r>
          </a:p>
          <a:p>
            <a:r>
              <a:t>Board: None.</a:t>
            </a:r>
          </a:p>
          <a:p>
            <a:r>
              <a:t>Transition: One question to leave you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 NOT ANSWER]</a:t>
            </a:r>
          </a:p>
          <a:p>
            <a:r>
              <a:t>TIME: (Guide §24)</a:t>
            </a:r>
          </a:p>
          <a:p>
            <a:r>
              <a:t>Purpose: Leave this open as a deliberate hook into Class 06 (Variables &amp; Data Types).</a:t>
            </a:r>
          </a:p>
          <a:p>
            <a:r>
              <a:t>Board: None.</a:t>
            </a:r>
          </a:p>
          <a:p>
            <a:r>
              <a:t>Transition: Class ends on the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this exact line, said slowly.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Your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Python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From English Instructions → Python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If a computer only does exactly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it's told, how do we tell it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something it can actually follow?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LOOK BACK — CLASS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Box We Never Opened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528" y="2066544"/>
            <a:ext cx="5120640" cy="540512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28" y="2066544"/>
            <a:ext cx="5120640" cy="54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2634488"/>
            <a:ext cx="0" cy="9161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269109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528" y="2843530"/>
            <a:ext cx="5120640" cy="540512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8" y="2843530"/>
            <a:ext cx="5120640" cy="54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8" y="3411474"/>
            <a:ext cx="0" cy="9161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15848" y="346808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5528" y="3620516"/>
            <a:ext cx="5120640" cy="540512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28" y="3620516"/>
            <a:ext cx="5120640" cy="54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8" y="4188460"/>
            <a:ext cx="0" cy="9161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15848" y="424507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8" y="4397502"/>
            <a:ext cx="5120640" cy="540512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28" y="4397502"/>
            <a:ext cx="5120640" cy="54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PROGRAM  (never opened)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8" y="4965446"/>
            <a:ext cx="0" cy="9161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15848" y="502205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35528" y="5174488"/>
            <a:ext cx="5120640" cy="540512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5528" y="5174488"/>
            <a:ext cx="5120640" cy="540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Four classes. Never once did we write a real program.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a Programming Language?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A LANGUAGE WITH STRICT,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PRECISE RULES —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ZERO GUESSING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SAME IDEA, TWO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Precision, Side by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1E3A72"/>
                </a:solidFill>
                <a:latin typeface="Aptos Display"/>
              </a:rPr>
              <a:t>“Go on, print Hello World for me.”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A person fills in every gap automatically - which words, what tone, even whether you're serious.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IN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Consolas"/>
              </a:rPr>
              <a:t>print("Hello, World!")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One exact form. Nothing left for the computer to guess.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TOOL WE'RE 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Meet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6800" b="1" i="0">
                <a:solidFill>
                  <a:srgbClr val="1E3A72"/>
                </a:solidFill>
                <a:latin typeface="Aptos Display"/>
              </a:rP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733"/>
                </a:solidFill>
                <a:latin typeface="Aptos"/>
              </a:rPr>
              <a:t>A PROGRAMMING LANGUAGE,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733"/>
                </a:solidFill>
                <a:latin typeface="Aptos"/>
              </a:rPr>
              <a:t>DESIGNED TO BE READABLE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733"/>
                </a:solidFill>
                <a:latin typeface="Aptos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733"/>
                </a:solidFill>
                <a:latin typeface="Aptos"/>
              </a:rPr>
              <a:t>ONE OF MANY — NOT “THE” PROGRAMMING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Where Code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043135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340864"/>
            <a:ext cx="137160" cy="137160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22C7E0"/>
                </a:solidFill>
                <a:latin typeface="Aptos"/>
              </a:rPr>
              <a:t>EDITOR — you type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43784"/>
            <a:ext cx="9997135" cy="1083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Consolas"/>
              </a:rPr>
              <a:t>print("Hello, World!")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75439"/>
            <a:ext cx="10911535" cy="123956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58319"/>
            <a:ext cx="10271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647085"/>
                </a:solidFill>
                <a:latin typeface="Aptos"/>
              </a:rPr>
              <a:t>OUTPUT — you see results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61239"/>
            <a:ext cx="10271455" cy="3708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1E3A72"/>
                </a:solidFill>
                <a:latin typeface="Consolas"/>
              </a:rPr>
              <a:t>Hello, World!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Editor: where you type. Output: where you see what happened. That's the whole mental model for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TYPE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Your First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355848"/>
            <a:ext cx="10911535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3611880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794760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FFFFFF"/>
                </a:solidFill>
                <a:latin typeface="Consolas"/>
              </a:rPr>
              <a:t>print("Hello, World!")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Type this exact line yourself before we run it. What do you think will happen?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PRESS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Running the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40147"/>
            <a:ext cx="10911535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FFFFF"/>
                </a:solidFill>
                <a:latin typeface="Consolas"/>
              </a:rPr>
              <a:t>print("Hello, World!")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733"/>
                </a:solidFill>
                <a:latin typeface="Consolas"/>
              </a:rPr>
              <a:t>Hello, World!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BREAK IT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Strings Need Quotes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40147"/>
            <a:ext cx="10911535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Consolas"/>
              </a:rPr>
              <a:t>print(Hello, World!)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FCECEC"/>
          </a:solidFill>
          <a:ln w="15875">
            <a:solidFill>
              <a:srgbClr val="EE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B83A3A"/>
                </a:solidFill>
                <a:latin typeface="Aptos"/>
              </a:rPr>
              <a:t>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B83A3A"/>
                </a:solidFill>
                <a:latin typeface="Consolas"/>
              </a:rPr>
              <a:t>NameError: name 'Hello' is not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BUILDING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Multiple Instructions,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print("Hello, my name is Priya.")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print("I am learning Python.")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print("This is my very first program!")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733"/>
                </a:solidFill>
                <a:latin typeface="Consolas"/>
              </a:rPr>
              <a:t>Hello, my name is Priya.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733"/>
                </a:solidFill>
                <a:latin typeface="Consolas"/>
              </a:rPr>
              <a:t>I am learning Python.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733"/>
                </a:solidFill>
                <a:latin typeface="Consolas"/>
              </a:rPr>
              <a:t>This is my very first program!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PREDICT BEFORE YOU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What happens to the output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if I swap lines 1 and 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Try it live if time allows - the output order swaps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NOTES FOR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# This program introduces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print("Hello, my name is Priya.")   # prints my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print("I am learning Python.")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 — unchanged by the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Hello, my name is Priya.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I am learning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READ IT CALMLY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When Syntax Breaks: Two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40147"/>
            <a:ext cx="520430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079059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print("Hello, World!)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FCECEC"/>
          </a:solidFill>
          <a:ln w="15875">
            <a:solidFill>
              <a:srgbClr val="EE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B83A3A"/>
                </a:solidFill>
                <a:latin typeface="Aptos"/>
              </a:rPr>
              <a:t>MISSING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83A3A"/>
                </a:solidFill>
                <a:latin typeface="Consolas"/>
              </a:rPr>
              <a:t>SyntaxError: unterminated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83A3A"/>
                </a:solidFill>
                <a:latin typeface="Consolas"/>
              </a:rPr>
              <a:t>string literal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7308" y="2640147"/>
            <a:ext cx="520430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39916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4236" y="3079059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Print("Hello, World!")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FCECEC"/>
          </a:solidFill>
          <a:ln w="15875">
            <a:solidFill>
              <a:srgbClr val="EE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B83A3A"/>
                </a:solidFill>
                <a:latin typeface="Aptos"/>
              </a:rPr>
              <a:t>WRONG CAPITALIZATION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83A3A"/>
                </a:solidFill>
                <a:latin typeface="Consolas"/>
              </a:rPr>
              <a:t>NameError: name 'Print'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83A3A"/>
                </a:solidFill>
                <a:latin typeface="Consolas"/>
              </a:rPr>
              <a:t>is not 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SAY IT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Errors Are Normal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AN ERROR IS NOT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A JUDGMENT ON YOU.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IT'S PYTHON TELLING YOU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EXACTLY WHERE IT GOT CONFUSED.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NAME 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 Write–Run–Read–Fix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204972"/>
            <a:ext cx="2384984" cy="13716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71316"/>
            <a:ext cx="2384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WRITE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9928" y="3890772"/>
            <a:ext cx="25747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3302400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82264" y="3204972"/>
            <a:ext cx="2384984" cy="13716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4" y="3671316"/>
            <a:ext cx="2384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22112" y="3890772"/>
            <a:ext cx="25747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6144584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448" y="3204972"/>
            <a:ext cx="2384984" cy="13716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8" y="3671316"/>
            <a:ext cx="2384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READ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64295" y="3890772"/>
            <a:ext cx="25747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986767" y="38107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66631" y="3204972"/>
            <a:ext cx="2384984" cy="137160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3671316"/>
            <a:ext cx="2384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 i="0">
                <a:solidFill>
                  <a:srgbClr val="1E3A72"/>
                </a:solidFill>
                <a:latin typeface="Aptos"/>
              </a:rP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...then run again. Nobody writes a perfect program on the first try - this loop is the normal way it works.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8408" y="1417320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18408" y="1417320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8" y="198661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203433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8408" y="218677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8" y="218677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8" y="2756069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80378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8408" y="2956221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8" y="2956221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3525520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35732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8408" y="3725672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8408" y="3725672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PYTHON 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429497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434269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18408" y="449512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8408" y="449512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5064421"/>
            <a:ext cx="0" cy="8272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511214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18408" y="5264573"/>
            <a:ext cx="4754880" cy="54186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8408" y="5264573"/>
            <a:ext cx="4754880" cy="5418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1E3A72"/>
                </a:solidFill>
                <a:latin typeface="Aptos"/>
              </a:rPr>
              <a:t>OUTPUT /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Card = already known from Class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My First Program: 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At least three print()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At least one comment (#).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Write it, run it, then break it on purpose - remove a quote, or misspell print - and read the error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STARTING POINT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About Me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734056"/>
            <a:ext cx="10911535" cy="2770632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990088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172968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# About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739896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print("Hello, my name is ___.")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306824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print("I am learning Python for the first time.")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873752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print("My favorite ___ is ___.")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Did the computer do anything</a:t>
            </a:r>
          </a:p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you didn't tell it 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389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4389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PRINT()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7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7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COMMENT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1626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1626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SYNTAX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00173" y="403250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21477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01341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1341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1434" y="403250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182738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62602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2602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22696" y="403250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44000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23864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3864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PYTHON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CODE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83957" y="403250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7905261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5125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5125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45218" y="4032504"/>
            <a:ext cx="56304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9766522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46386" y="3506724"/>
            <a:ext cx="160522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6386" y="3813048"/>
            <a:ext cx="16052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OUTPUT/</a:t>
            </a:r>
          </a:p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FOR 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Right now, every piece of text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in your programs is fixed. What if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a program needed to remember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something that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“You didn't just learn about</a:t>
            </a:r>
          </a:p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programming today — you did it. Every</a:t>
            </a:r>
          </a:p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program you will ever write is built</a:t>
            </a:r>
          </a:p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from exactly this: precise instructions,</a:t>
            </a:r>
          </a:p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run in order, read carefully when</a:t>
            </a:r>
          </a:p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they go wrong.”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