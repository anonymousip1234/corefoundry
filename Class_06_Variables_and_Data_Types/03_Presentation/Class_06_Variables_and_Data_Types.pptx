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2 min</a:t>
            </a:r>
          </a:p>
          <a:p>
            <a:r>
              <a:t>Purpose: Set tone; do not read the slide aloud.</a:t>
            </a:r>
          </a:p>
          <a:p>
            <a:r>
              <a:t>Say: Open with the live scoreboard demonstration (Guide §8) before this slide is even shown, if possible.</a:t>
            </a:r>
          </a:p>
          <a:p>
            <a:r>
              <a:t>Transition: If a program needs to remember something that changes, how does it hold onto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[PAUSE] [DO NOT ANSWER YET]</a:t>
            </a:r>
          </a:p>
          <a:p>
            <a:r>
              <a:t>TIME: (closes Guide §8)</a:t>
            </a:r>
          </a:p>
          <a:p>
            <a:r>
              <a:t>Purpose: Land the central question right after the live 'edit and re-run the scoreboard' demonstration.</a:t>
            </a:r>
          </a:p>
          <a:p>
            <a:r>
              <a:t>Board: None.</a:t>
            </a:r>
          </a:p>
          <a:p>
            <a:r>
              <a:t>Transition: Let's go back to exactly where Class 05 left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5 min (Guide §9)</a:t>
            </a:r>
          </a:p>
          <a:p>
            <a:r>
              <a:t>Purpose: Re-open Class 05's unresolved hook and Class 04's bits idea together - both get answered today.</a:t>
            </a:r>
          </a:p>
          <a:p>
            <a:r>
              <a:t>Ask: What did Class 05 leave unanswered? What did Class 04 teach about how a computer holds information?</a:t>
            </a:r>
          </a:p>
          <a:p>
            <a:r>
              <a:t>Expected: How to hold onto something that changes; it represents information as bits.</a:t>
            </a:r>
          </a:p>
          <a:p>
            <a:r>
              <a:t>Board: None.</a:t>
            </a:r>
          </a:p>
          <a:p>
            <a:r>
              <a:t>Transition: Let's name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7 min (Guide §10)</a:t>
            </a:r>
          </a:p>
          <a:p>
            <a:r>
              <a:t>Purpose: Introduce the labeled-box analogy before any code, then type score = 0 / print(score) live.</a:t>
            </a:r>
          </a:p>
          <a:p>
            <a:r>
              <a:t>Say: A variable is a named place to store a value - and unlike Class 05's fixed text, its value can change later. score is the label. 0 is what's currently inside.</a:t>
            </a:r>
          </a:p>
          <a:p>
            <a:r>
              <a:t>Ask: In the labeled-box idea, what's the label? What's inside?</a:t>
            </a:r>
          </a:p>
          <a:p>
            <a:r>
              <a:t>Expected: The variable name is the label; the value is what's inside.</a:t>
            </a:r>
          </a:p>
          <a:p>
            <a:r>
              <a:t>Board: Live screen.</a:t>
            </a:r>
          </a:p>
          <a:p>
            <a:r>
              <a:t>Transition: Let's look closely at the line that actually created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(opens Guide §11) — NON-NEGOTIABLE</a:t>
            </a:r>
          </a:p>
          <a:p>
            <a:r>
              <a:t>Purpose: Land the core reframe before proving it live - in Python, = means store, not mathematical equality.</a:t>
            </a:r>
          </a:p>
          <a:p>
            <a:r>
              <a:t>Ask: In math class, what does = mean?</a:t>
            </a:r>
          </a:p>
          <a:p>
            <a:r>
              <a:t>Expected: Equals — both sides are the same.</a:t>
            </a:r>
          </a:p>
          <a:p>
            <a:r>
              <a:t>Board: None.</a:t>
            </a:r>
          </a:p>
          <a:p>
            <a:r>
              <a:t>Transition: Let's prove this by actually changing what's stored.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[LIVE]</a:t>
            </a:r>
          </a:p>
          <a:p>
            <a:r>
              <a:t>TIME: (closes Guide §11)</a:t>
            </a:r>
          </a:p>
          <a:p>
            <a:r>
              <a:t>Purpose: If = meant mathematical equality, this would be a contradiction. It isn't - each = just overwrites what was there.</a:t>
            </a:r>
          </a:p>
          <a:p>
            <a:r>
              <a:t>Ask: How should you read age = 18 out loud?</a:t>
            </a:r>
          </a:p>
          <a:p>
            <a:r>
              <a:t>Expected: "age gets 18," not "age equals 18."</a:t>
            </a:r>
          </a:p>
          <a:p>
            <a:r>
              <a:t>Board: Live screen.</a:t>
            </a:r>
          </a:p>
          <a:p>
            <a:r>
              <a:t>Transition: Now let's use this variable inside print() - and see something that trips up almost every beginner at least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[TYPE-ALONG] [ASK]</a:t>
            </a:r>
          </a:p>
          <a:p>
            <a:r>
              <a:t>TIME: 7 min (Guide §12) — NON-NEGOTIABLE</a:t>
            </a:r>
          </a:p>
          <a:p>
            <a:r>
              <a:t>Purpose: Every student types both lines and predicts before running - the single most important moment of the class.</a:t>
            </a:r>
          </a:p>
          <a:p>
            <a:r>
              <a:t>Say: Quotes are the entire difference. This is the easiest mistake to make in the next several classes - let's make it on purpose, right now.</a:t>
            </a:r>
          </a:p>
          <a:p>
            <a:r>
              <a:t>Ask: Before I run these - will they show the same thing?</a:t>
            </a:r>
          </a:p>
          <a:p>
            <a:r>
              <a:t>Expected: No - print(name) shows Priya; print("name") shows the literal word name.</a:t>
            </a:r>
          </a:p>
          <a:p>
            <a:r>
              <a:t>Board: Live screen.</a:t>
            </a:r>
          </a:p>
          <a:p>
            <a:r>
              <a:t>Transition: Let's change what's stored in a variable and watch what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[LIVE] [ASK]</a:t>
            </a:r>
          </a:p>
          <a:p>
            <a:r>
              <a:t>TIME: 7 min (Guide §13) — NON-NEGOTIABLE</a:t>
            </a:r>
          </a:p>
          <a:p>
            <a:r>
              <a:t>Purpose: Build this live, one reassignment at a time - the old value is completely overwritten, not remembered.</a:t>
            </a:r>
          </a:p>
          <a:p>
            <a:r>
              <a:t>Ask: After score = 10 runs, if I ask Python for score again, what happened to the 0?</a:t>
            </a:r>
          </a:p>
          <a:p>
            <a:r>
              <a:t>Expected: It's completely gone - overwritten, not remembered anywhere.</a:t>
            </a:r>
          </a:p>
          <a:p>
            <a:r>
              <a:t>Board: Live screen.</a:t>
            </a:r>
          </a:p>
          <a:p>
            <a:r>
              <a:t>Transition: Before we go further, let's talk about what you're actually allowed to name a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5 min (Guide §14)</a:t>
            </a:r>
          </a:p>
          <a:p>
            <a:r>
              <a:t>Purpose: State the hard rules, then show valid/invalid side by side. Case-sensitivity matters too: age and Age are different variables.</a:t>
            </a:r>
          </a:p>
          <a:p>
            <a:r>
              <a:t>Say: Beyond what's required, good style uses snake_case and descriptive names - student_age beats x.</a:t>
            </a:r>
          </a:p>
          <a:p>
            <a:r>
              <a:t>Ask: Can a variable name start with a digit? Are age and Age the same variable?</a:t>
            </a:r>
          </a:p>
          <a:p>
            <a:r>
              <a:t>Expected: No. No - Python is case-sensitive.</a:t>
            </a:r>
          </a:p>
          <a:p>
            <a:r>
              <a:t>Board: Live screen.</a:t>
            </a:r>
          </a:p>
          <a:p>
            <a:r>
              <a:t>Transition: So far every variable held text or a number. Let's name the different kinds of values a variable can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[LIVE]</a:t>
            </a:r>
          </a:p>
          <a:p>
            <a:r>
              <a:t>TIME: 8 min (Guide §15) — NON-NEGOTIABLE</a:t>
            </a:r>
          </a:p>
          <a:p>
            <a:r>
              <a:t>Purpose: Type all four lines live, then name each type. type() is a peek, not a deep dive.</a:t>
            </a:r>
          </a:p>
          <a:p>
            <a:r>
              <a:t>Ask: What are the four data types we just met?</a:t>
            </a:r>
          </a:p>
          <a:p>
            <a:r>
              <a:t>Expected: int, float, str, bool.</a:t>
            </a:r>
          </a:p>
          <a:p>
            <a:r>
              <a:t>Board: Live screen.</a:t>
            </a:r>
          </a:p>
          <a:p>
            <a:r>
              <a:t>Transition: Let's slow down on the first one - numbers actually come in two flavors.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6 min (Guide §16)</a:t>
            </a:r>
          </a:p>
          <a:p>
            <a:r>
              <a:t>Purpose: The decimal point is the entire test - not a value judgment, just a distinction.</a:t>
            </a:r>
          </a:p>
          <a:p>
            <a:r>
              <a:t>Say: We're not adding, subtracting, or doing any math with these numbers yet - that's next class's entire job.</a:t>
            </a:r>
          </a:p>
          <a:p>
            <a:r>
              <a:t>Ask: Is 7 an int or a float? Is 7.0 an int or a float?</a:t>
            </a:r>
          </a:p>
          <a:p>
            <a:r>
              <a:t>Expected: int. Float - it has a decimal point.</a:t>
            </a:r>
          </a:p>
          <a:p>
            <a:r>
              <a:t>Board: Live screen.</a:t>
            </a:r>
          </a:p>
          <a:p>
            <a:r>
              <a:t>Transition: Strings we already know from Class 05 - but let's revisit exactly where quotes do and don't belong.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5 min (Guide §17)</a:t>
            </a:r>
          </a:p>
          <a:p>
            <a:r>
              <a:t>Purpose: Confirm Section 12's lesson one more time, explicitly tied to the Class 05 quotes rule.</a:t>
            </a:r>
          </a:p>
          <a:p>
            <a:r>
              <a:t>Ask: Does a variable name ever go in quotes?</a:t>
            </a:r>
          </a:p>
          <a:p>
            <a:r>
              <a:t>Expected: No.</a:t>
            </a:r>
          </a:p>
          <a:p>
            <a:r>
              <a:t>Board: Live screen.</a:t>
            </a:r>
          </a:p>
          <a:p>
            <a:r>
              <a:t>Transition: One more data type - one that isn't a number or text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6 min (Guide §18)</a:t>
            </a:r>
          </a:p>
          <a:p>
            <a:r>
              <a:t>Purpose: True/False - capitalized, no quotes. Do not introduce comparison operators here.</a:t>
            </a:r>
          </a:p>
          <a:p>
            <a:r>
              <a:t>Say: True and "True" are not the same thing. Without quotes, it's a boolean. With quotes, it's just a four-letter string.</a:t>
            </a:r>
          </a:p>
          <a:p>
            <a:r>
              <a:t>Ask: What are the only two possible boolean values? Do booleans need quotes?</a:t>
            </a:r>
          </a:p>
          <a:p>
            <a:r>
              <a:t>Expected: True and False. No.</a:t>
            </a:r>
          </a:p>
          <a:p>
            <a:r>
              <a:t>Board: Live screen.</a:t>
            </a:r>
          </a:p>
          <a:p>
            <a:r>
              <a:t>Transition: Let's put a variable inside a full sentence, not just print it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[LIVE] [ASK]</a:t>
            </a:r>
          </a:p>
          <a:p>
            <a:r>
              <a:t>TIME: 7 min (Guide §19) — NON-NEGOTIABLE</a:t>
            </a:r>
          </a:p>
          <a:p>
            <a:r>
              <a:t>Purpose: A comma inside print() mixes literal text and variables - Python adds a space automatically.</a:t>
            </a:r>
          </a:p>
          <a:p>
            <a:r>
              <a:t>Ask: Before I run this - what do you think the output will look like?</a:t>
            </a:r>
          </a:p>
          <a:p>
            <a:r>
              <a:t>Expected: A single readable sentence combining the text and the two variables' values.</a:t>
            </a:r>
          </a:p>
          <a:p>
            <a:r>
              <a:t>Board: Live screen.</a:t>
            </a:r>
          </a:p>
          <a:p>
            <a:r>
              <a:t>Transition: Let's reconnect this whole idea to something from several classes 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7 min (Guide §20)</a:t>
            </a:r>
          </a:p>
          <a:p>
            <a:r>
              <a:t>Purpose: A variable is the human-readable label Python gives you for a piece of stored representation - you never have to think about the bits directly.</a:t>
            </a:r>
          </a:p>
          <a:p>
            <a:r>
              <a:t>Ask: What did Class 04 say information gets represented as? What does a variable give you that raw bits don't?</a:t>
            </a:r>
          </a:p>
          <a:p>
            <a:r>
              <a:t>Expected: Bits. A readable, meaningful name for the stored value.</a:t>
            </a:r>
          </a:p>
          <a:p>
            <a:r>
              <a:t>Board: None.</a:t>
            </a:r>
          </a:p>
          <a:p>
            <a:r>
              <a:t>Transition: Let's put the entire day's reasoning on one board - starting all the way back at Class 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[LIVE]</a:t>
            </a:r>
          </a:p>
          <a:p>
            <a:r>
              <a:t>TIME: 7 min (Guide §21) — NON-NEGOTIABLE, HERO MOMENT</a:t>
            </a:r>
          </a:p>
          <a:p>
            <a:r>
              <a:t>Purpose: Build this top to bottom, one line at a time - never reveal it finished. Today inserted one new box - VARIABLES - into Class 05's chain.</a:t>
            </a:r>
          </a:p>
          <a:p>
            <a:r>
              <a:t>Board: Whiteboard - the one non-screen drawing before the activity.</a:t>
            </a:r>
          </a:p>
          <a:p>
            <a:r>
              <a:t>Transition: Time to try this yourselves.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</a:t>
            </a:r>
          </a:p>
          <a:p>
            <a:r>
              <a:t>TIME: 14 min (Guide §22) — NON-NEGOTIABLE, HERO ACTIVITY</a:t>
            </a:r>
          </a:p>
          <a:p>
            <a:r>
              <a:t>Purpose: Every student extends Class 05's 'About Me' idea using real variables and data types. Circulate constantly.</a:t>
            </a:r>
          </a:p>
          <a:p>
            <a:r>
              <a:t>Say: Stuck? What's one true number about you? One true yes/no fact?</a:t>
            </a:r>
          </a:p>
          <a:p>
            <a:r>
              <a:t>Board: Circulate and read screens rather than calling on students verbally.</a:t>
            </a:r>
          </a:p>
          <a:p>
            <a:r>
              <a:t>Transition: Here's a template if you want a starting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(support for Guide §22)</a:t>
            </a:r>
          </a:p>
          <a:p>
            <a:r>
              <a:t>Purpose: A worked template for students who want a starting point - not the only correct answer, and not required.</a:t>
            </a:r>
          </a:p>
          <a:p>
            <a:r>
              <a:t>Board: None.</a:t>
            </a:r>
          </a:p>
          <a:p>
            <a:r>
              <a:t>Transition: Let a few students run their program for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 [PAUSE]</a:t>
            </a:r>
          </a:p>
          <a:p>
            <a:r>
              <a:t>TIME: (closes Guide §22)</a:t>
            </a:r>
          </a:p>
          <a:p>
            <a:r>
              <a:t>Purpose: Re-confirm Section 13's lesson using the student's own program as the example.</a:t>
            </a:r>
          </a:p>
          <a:p>
            <a:r>
              <a:t>Board: None.</a:t>
            </a:r>
          </a:p>
          <a:p>
            <a:r>
              <a:t>Transition: Let's check a couple of misconceptions before we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[ASK]</a:t>
            </a:r>
          </a:p>
          <a:p>
            <a:r>
              <a:t>TIME: 2 min (Guide §24) — NON-NEGOTIABLE</a:t>
            </a:r>
          </a:p>
          <a:p>
            <a:r>
              <a:t>Purpose: One visual summary of every keyword and the full bridged chain.</a:t>
            </a:r>
          </a:p>
          <a:p>
            <a:r>
              <a:t>Ask: Why wasn't fixed text enough? What does = actually do? What's the difference between print(name) and print("name")? What happens to an old value after reassignment? Name the four data types.</a:t>
            </a:r>
          </a:p>
          <a:p>
            <a:r>
              <a:t>Board: None.</a:t>
            </a:r>
          </a:p>
          <a:p>
            <a:r>
              <a:t>Transition: One question to leave you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 NOT ANSWER]</a:t>
            </a:r>
          </a:p>
          <a:p>
            <a:r>
              <a:t>TIME: (Guide §25)</a:t>
            </a:r>
          </a:p>
          <a:p>
            <a:r>
              <a:t>Purpose: Leave this open as a deliberate hook into Class 07 (Operators &amp; Expressions).</a:t>
            </a:r>
          </a:p>
          <a:p>
            <a:r>
              <a:t>Board: None.</a:t>
            </a:r>
          </a:p>
          <a:p>
            <a:r>
              <a:t>Transition: Class ends on the final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TIME: 1 min</a:t>
            </a:r>
          </a:p>
          <a:p>
            <a:r>
              <a:t>Purpose: Close the class on this exact line, said slowly.</a:t>
            </a:r>
          </a:p>
          <a:p>
            <a:r>
              <a:t>Board: None.</a:t>
            </a:r>
          </a:p>
          <a:p>
            <a:r>
              <a:t>Transition: Class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965960"/>
            <a:ext cx="1097280" cy="54864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2C7E0"/>
                </a:solidFill>
                <a:latin typeface="Aptos"/>
              </a:rPr>
              <a:t>BONG STUDY HUB · FOUNDATION BATCH 2026 · CLASS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5000" b="1" i="0">
                <a:solidFill>
                  <a:srgbClr val="FFFFFF"/>
                </a:solidFill>
                <a:latin typeface="Aptos Display"/>
              </a:rPr>
              <a:t>Variables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5000" b="1" i="0">
                <a:solidFill>
                  <a:srgbClr val="FFFFFF"/>
                </a:solidFill>
                <a:latin typeface="Aptos Display"/>
              </a:rPr>
              <a:t>Data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0" i="1">
                <a:solidFill>
                  <a:srgbClr val="B9CCEE"/>
                </a:solidFill>
                <a:latin typeface="Aptos"/>
              </a:rPr>
              <a:t>Giving Values a Label That Can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FA6D1"/>
                </a:solidFill>
                <a:latin typeface="Aptos"/>
              </a:rPr>
              <a:t>Bong Study Hub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FA6D1"/>
                </a:solidFill>
                <a:latin typeface="Aptos"/>
              </a:rPr>
              <a:t>Foundation Batch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BIG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If a program needs to remember</a:t>
            </a:r>
          </a:p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something that changes — a score, an age,</a:t>
            </a:r>
          </a:p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an answer — how does it hold onto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TWO CLASSES, ONE MISSING PIECE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Reopening Two Boxes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203704"/>
            <a:ext cx="5181448" cy="246888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78024"/>
            <a:ext cx="4541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CLASS 05 LEFT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89504"/>
            <a:ext cx="4541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E3A72"/>
                </a:solidFill>
                <a:latin typeface="Aptos Display"/>
              </a:rPr>
              <a:t>Fixed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21024"/>
            <a:ext cx="4541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733"/>
                </a:solidFill>
                <a:latin typeface="Aptos"/>
              </a:rPr>
              <a:t>Every program said the exact same thing, every single time — changing it meant editing the code and running it again.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0168" y="2203704"/>
            <a:ext cx="5181448" cy="2468880"/>
          </a:xfrm>
          <a:prstGeom prst="roundRect">
            <a:avLst>
              <a:gd name="adj" fmla="val 5000"/>
            </a:avLst>
          </a:prstGeom>
          <a:solidFill>
            <a:srgbClr val="E4F9FB"/>
          </a:solidFill>
          <a:ln w="15875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0208" y="2478024"/>
            <a:ext cx="4541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CLASS 04 REOPENED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0208" y="2889504"/>
            <a:ext cx="4541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E3A72"/>
                </a:solidFill>
                <a:latin typeface="Aptos Display"/>
              </a:rPr>
              <a:t>Bits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0208" y="3621024"/>
            <a:ext cx="45413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733"/>
                </a:solidFill>
                <a:latin typeface="Aptos"/>
              </a:rPr>
              <a:t>Information is represented inside a computer as bits — you never see them directly.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1528" y="3118104"/>
            <a:ext cx="548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NAMING THE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What Is a Variable?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44288" y="2656332"/>
            <a:ext cx="2103120" cy="502920"/>
          </a:xfrm>
          <a:prstGeom prst="roundRect">
            <a:avLst>
              <a:gd name="adj" fmla="val 1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4288" y="2656332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</a:rPr>
              <a:t>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84168" y="3067812"/>
            <a:ext cx="4023360" cy="2194560"/>
          </a:xfrm>
          <a:prstGeom prst="roundRect">
            <a:avLst>
              <a:gd name="adj" fmla="val 8000"/>
            </a:avLst>
          </a:prstGeom>
          <a:solidFill>
            <a:srgbClr val="E4F9FB"/>
          </a:solidFill>
          <a:ln w="22225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84168" y="3067812"/>
            <a:ext cx="402336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4600" b="1" i="0">
                <a:solidFill>
                  <a:srgbClr val="1E3A72"/>
                </a:solidFill>
                <a:latin typeface="Consola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score = 0   →   print(score)   →   shows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READ IT CORRECTLY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= Means Store, Not Equals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66544"/>
            <a:ext cx="10911535" cy="4105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score = 0</a:t>
            </a:r>
          </a:p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/>
            </a:r>
          </a:p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READ AS: "score GETS 0"</a:t>
            </a:r>
          </a:p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NOT: "score equals 0"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PROOF,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One Name, Two Different Values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66544"/>
            <a:ext cx="10911535" cy="2217054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322576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505456"/>
            <a:ext cx="10042855" cy="428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0" i="0">
                <a:solidFill>
                  <a:srgbClr val="FFFFFF"/>
                </a:solidFill>
                <a:latin typeface="Consolas"/>
              </a:rPr>
              <a:t>score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933990"/>
            <a:ext cx="10042855" cy="428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0" i="0">
                <a:solidFill>
                  <a:srgbClr val="FFFFFF"/>
                </a:solidFill>
                <a:latin typeface="Consolas"/>
              </a:rPr>
              <a:t>print(score)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362523"/>
            <a:ext cx="10042855" cy="428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0" i="0">
                <a:solidFill>
                  <a:srgbClr val="FFFFFF"/>
                </a:solidFill>
                <a:latin typeface="Consolas"/>
              </a:rPr>
              <a:t>score =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791057"/>
            <a:ext cx="10042855" cy="428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0" i="0">
                <a:solidFill>
                  <a:srgbClr val="FFFFFF"/>
                </a:solidFill>
                <a:latin typeface="Consolas"/>
              </a:rPr>
              <a:t>print(score)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03638"/>
            <a:ext cx="10911535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749942"/>
            <a:ext cx="103628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106558"/>
            <a:ext cx="10362895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1F2733"/>
                </a:solidFill>
                <a:latin typeface="Consolas"/>
              </a:rPr>
              <a:t>0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1F2733"/>
                </a:solidFill>
                <a:latin typeface="Consolas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MOST IMPORTANT CONTRAST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print(name)  vs.  print("name")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356683"/>
            <a:ext cx="5204308" cy="1636776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612715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795595"/>
            <a:ext cx="43356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name = "Priya"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362523"/>
            <a:ext cx="43356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print(name)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603638"/>
            <a:ext cx="5204308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749942"/>
            <a:ext cx="46556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NO QUOTES → THE STORED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106558"/>
            <a:ext cx="4655668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F2733"/>
                </a:solidFill>
                <a:latin typeface="Consolas"/>
              </a:rPr>
              <a:t>Priya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7308" y="2356683"/>
            <a:ext cx="5204308" cy="1636776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39916" y="2612715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14236" y="2795595"/>
            <a:ext cx="43356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name = "Priya"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4236" y="3362523"/>
            <a:ext cx="43356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print("name")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7308" y="4603638"/>
            <a:ext cx="5204308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7308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7348" y="4749942"/>
            <a:ext cx="46556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QUOTES → THE LITERAL WORD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348" y="5106558"/>
            <a:ext cx="4655668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F2733"/>
                </a:solidFill>
                <a:latin typeface="Consolas"/>
              </a:rPr>
              <a:t>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BUILDING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Reassignment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66544"/>
            <a:ext cx="10911535" cy="2217054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322576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505456"/>
            <a:ext cx="10042855" cy="2856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score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791145"/>
            <a:ext cx="10042855" cy="2856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print(score)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076834"/>
            <a:ext cx="10042855" cy="2856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score =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362523"/>
            <a:ext cx="10042855" cy="2856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print(score)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3648212"/>
            <a:ext cx="10042855" cy="2856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score =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933901"/>
            <a:ext cx="10042855" cy="2856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print(score)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03638"/>
            <a:ext cx="10911535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49942"/>
            <a:ext cx="103628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OUTPUT — the old value is never seen again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106558"/>
            <a:ext cx="10362895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1F2733"/>
                </a:solidFill>
                <a:latin typeface="Consolas"/>
              </a:rPr>
              <a:t>0</a:t>
            </a:r>
          </a:p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1F2733"/>
                </a:solidFill>
                <a:latin typeface="Consolas"/>
              </a:rPr>
              <a:t>10</a:t>
            </a:r>
          </a:p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1F2733"/>
                </a:solidFill>
                <a:latin typeface="Consolas"/>
              </a:rPr>
              <a:t>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Naming Variables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66544"/>
            <a:ext cx="522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2A5CB8"/>
                </a:solidFill>
                <a:latin typeface="Aptos"/>
              </a:rPr>
              <a:t>VALID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40380"/>
            <a:ext cx="5227168" cy="2203704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3296412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3479292"/>
            <a:ext cx="435848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FFFFFF"/>
                </a:solidFill>
                <a:latin typeface="Consolas"/>
              </a:rPr>
              <a:t>age =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4046220"/>
            <a:ext cx="435848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FFFFFF"/>
                </a:solidFill>
                <a:latin typeface="Consolas"/>
              </a:rPr>
              <a:t>student_name = "Rio"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4613148"/>
            <a:ext cx="435848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FFFFFF"/>
                </a:solidFill>
                <a:latin typeface="Consolas"/>
              </a:rPr>
              <a:t>_temp =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8" y="2066544"/>
            <a:ext cx="522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B83A3A"/>
                </a:solidFill>
                <a:latin typeface="Aptos"/>
              </a:rPr>
              <a:t>INVALID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8" y="3040380"/>
            <a:ext cx="5227168" cy="2203704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17056" y="3296412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91376" y="3479292"/>
            <a:ext cx="435848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FFFFFF"/>
                </a:solidFill>
                <a:latin typeface="Consolas"/>
              </a:rPr>
              <a:t>2nd_place = 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1376" y="4046220"/>
            <a:ext cx="435848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FFFFFF"/>
                </a:solidFill>
                <a:latin typeface="Consolas"/>
              </a:rPr>
              <a:t>student name = 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1376" y="4613148"/>
            <a:ext cx="435848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FFFFFF"/>
                </a:solidFill>
                <a:latin typeface="Consolas"/>
              </a:rPr>
              <a:t>class = 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Starts with a digit · contains a space · a reserved Python word — three different problems, all invalid.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FOUR KINDS OF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Meet the Data Types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" y="2093976"/>
            <a:ext cx="3582314" cy="674827"/>
          </a:xfrm>
          <a:prstGeom prst="roundRect">
            <a:avLst>
              <a:gd name="adj" fmla="val 8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66544"/>
            <a:ext cx="3637178" cy="7296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Variable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4690" y="2093976"/>
            <a:ext cx="3582314" cy="674827"/>
          </a:xfrm>
          <a:prstGeom prst="roundRect">
            <a:avLst>
              <a:gd name="adj" fmla="val 8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77258" y="2066544"/>
            <a:ext cx="3637178" cy="7296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41869" y="2093976"/>
            <a:ext cx="3582314" cy="674827"/>
          </a:xfrm>
          <a:prstGeom prst="roundRect">
            <a:avLst>
              <a:gd name="adj" fmla="val 8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14437" y="2066544"/>
            <a:ext cx="3637178" cy="7296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1" i="0">
                <a:solidFill>
                  <a:srgbClr val="FFFFFF"/>
                </a:solidFill>
                <a:latin typeface="Aptos"/>
              </a:rPr>
              <a:t>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823667"/>
            <a:ext cx="3582314" cy="6748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96235"/>
            <a:ext cx="3637178" cy="7296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Aptos"/>
              </a:rPr>
              <a:t>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4690" y="2823667"/>
            <a:ext cx="3582314" cy="6748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7258" y="2796235"/>
            <a:ext cx="3637178" cy="7296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Consolas"/>
              </a:rPr>
              <a:t>18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41869" y="2823667"/>
            <a:ext cx="3582314" cy="6748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14437" y="2796235"/>
            <a:ext cx="3637178" cy="7296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Aptos"/>
              </a:rPr>
              <a:t>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" y="3553358"/>
            <a:ext cx="3582314" cy="674827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25926"/>
            <a:ext cx="3637178" cy="7296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Aptos"/>
              </a:rPr>
              <a:t>price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4690" y="3553358"/>
            <a:ext cx="3582314" cy="674827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7258" y="3525926"/>
            <a:ext cx="3637178" cy="7296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Consolas"/>
              </a:rPr>
              <a:t>19.99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41869" y="3553358"/>
            <a:ext cx="3582314" cy="674827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14437" y="3525926"/>
            <a:ext cx="3637178" cy="7296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Aptos"/>
              </a:rPr>
              <a:t>float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" y="4283050"/>
            <a:ext cx="3582314" cy="6748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255618"/>
            <a:ext cx="3637178" cy="7296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Aptos"/>
              </a:rPr>
              <a:t>name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04690" y="4283050"/>
            <a:ext cx="3582314" cy="6748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7258" y="4255618"/>
            <a:ext cx="3637178" cy="7296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Consolas"/>
              </a:rPr>
              <a:t>"Priya"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41869" y="4283050"/>
            <a:ext cx="3582314" cy="6748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14437" y="4255618"/>
            <a:ext cx="3637178" cy="7296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Aptos"/>
              </a:rPr>
              <a:t>str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" y="5012741"/>
            <a:ext cx="3582314" cy="674827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85309"/>
            <a:ext cx="3637178" cy="7296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Aptos"/>
              </a:rPr>
              <a:t>is_student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04690" y="5012741"/>
            <a:ext cx="3582314" cy="674827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77258" y="4985309"/>
            <a:ext cx="3637178" cy="7296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Consolas"/>
              </a:rPr>
              <a:t>True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41869" y="5012741"/>
            <a:ext cx="3582314" cy="674827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4437" y="4985309"/>
            <a:ext cx="3637178" cy="7296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0" i="0">
                <a:solidFill>
                  <a:srgbClr val="1F2733"/>
                </a:solidFill>
                <a:latin typeface="Aptos"/>
              </a:rPr>
              <a:t>bool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8978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print(type(age))  →  &lt;class 'int'&gt;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TWO FLAVORS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Numbers: int vs. float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66544"/>
            <a:ext cx="522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2A5CB8"/>
                </a:solidFill>
                <a:latin typeface="Aptos"/>
              </a:rPr>
              <a:t>INT — A WHOLE NUMBER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35908"/>
            <a:ext cx="5227168" cy="1069848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4091940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4274820"/>
            <a:ext cx="435848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0" i="0">
                <a:solidFill>
                  <a:srgbClr val="FFFFFF"/>
                </a:solidFill>
                <a:latin typeface="Consolas"/>
              </a:rPr>
              <a:t>apples =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8" y="2066544"/>
            <a:ext cx="522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2A5CB8"/>
                </a:solidFill>
                <a:latin typeface="Aptos"/>
              </a:rPr>
              <a:t>FLOAT — HAS A DECIMAL 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8" y="3835908"/>
            <a:ext cx="5227168" cy="1069848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17056" y="4091940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91376" y="4274820"/>
            <a:ext cx="435848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0" i="0">
                <a:solidFill>
                  <a:srgbClr val="FFFFFF"/>
                </a:solidFill>
                <a:latin typeface="Consolas"/>
              </a:rPr>
              <a:t>temperature = 36.6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RULE HASN'T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Strings, Revisited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356683"/>
            <a:ext cx="5204308" cy="1636776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612715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795595"/>
            <a:ext cx="43356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city = "Kolkata"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362523"/>
            <a:ext cx="43356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print(city)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603638"/>
            <a:ext cx="5204308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749942"/>
            <a:ext cx="46556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A VARIABLE — NO QUOTES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106558"/>
            <a:ext cx="4655668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F2733"/>
                </a:solidFill>
                <a:latin typeface="Consolas"/>
              </a:rPr>
              <a:t>Kolkata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7308" y="2356683"/>
            <a:ext cx="5204308" cy="1636776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39916" y="2612715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14236" y="2795595"/>
            <a:ext cx="43356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city = "Kolkata"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4236" y="3362523"/>
            <a:ext cx="43356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print("city")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7308" y="4603638"/>
            <a:ext cx="5204308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7308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7348" y="4749942"/>
            <a:ext cx="46556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LITERAL TEXT — QUOTES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348" y="5106558"/>
            <a:ext cx="4655668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F2733"/>
                </a:solidFill>
                <a:latin typeface="Consolas"/>
              </a:rPr>
              <a:t>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YES OR 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Booleans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73219"/>
            <a:ext cx="10911535" cy="2203704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329251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512131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0" i="0">
                <a:solidFill>
                  <a:srgbClr val="FFFFFF"/>
                </a:solidFill>
                <a:latin typeface="Consolas"/>
              </a:rPr>
              <a:t>is_raining =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079059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0" i="0">
                <a:solidFill>
                  <a:srgbClr val="FFFFFF"/>
                </a:solidFill>
                <a:latin typeface="Consolas"/>
              </a:rPr>
              <a:t>is_weekend = 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645987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0" i="0">
                <a:solidFill>
                  <a:srgbClr val="FFFFFF"/>
                </a:solidFill>
                <a:latin typeface="Consolas"/>
              </a:rPr>
              <a:t>print(is_raining)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03638"/>
            <a:ext cx="10911535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49942"/>
            <a:ext cx="103628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06558"/>
            <a:ext cx="10362895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F2733"/>
                </a:solidFill>
                <a:latin typeface="Consolas"/>
              </a:rPr>
              <a:t>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BUILDING A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Combining Text and Variables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73219"/>
            <a:ext cx="10911535" cy="2203704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329251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512131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FFFFFF"/>
                </a:solidFill>
                <a:latin typeface="Consolas"/>
              </a:rPr>
              <a:t>name = "Priya"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079059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FFFFFF"/>
                </a:solidFill>
                <a:latin typeface="Consolas"/>
              </a:rPr>
              <a:t>age =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645987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FFFFFF"/>
                </a:solidFill>
                <a:latin typeface="Consolas"/>
              </a:rPr>
              <a:t>print("My name is", name, "and I am", age, "years old.")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03638"/>
            <a:ext cx="10911535" cy="1568562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603638"/>
            <a:ext cx="82296" cy="1568562"/>
          </a:xfrm>
          <a:prstGeom prst="rect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49942"/>
            <a:ext cx="103628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647085"/>
                </a:solidFill>
                <a:latin typeface="Aptos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106558"/>
            <a:ext cx="10362895" cy="92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F2733"/>
                </a:solidFill>
                <a:latin typeface="Consolas"/>
              </a:rPr>
              <a:t>My name is Priya and I am 18 years old.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RECONNECTING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A Variable Is a Labeled Representation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35528" y="2066544"/>
            <a:ext cx="5120640" cy="6858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35528" y="2066544"/>
            <a:ext cx="5120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INFORMATION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5848" y="2779776"/>
            <a:ext cx="0" cy="309288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10800000">
            <a:off x="6015848" y="305406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35528" y="3206496"/>
            <a:ext cx="5120640" cy="6858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5528" y="3206496"/>
            <a:ext cx="5120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REPRESENTATION  (Class 04)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848" y="3919728"/>
            <a:ext cx="0" cy="309288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10800000">
            <a:off x="6015848" y="4194016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5528" y="4346448"/>
            <a:ext cx="5120640" cy="6858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5528" y="4346448"/>
            <a:ext cx="5120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BITS  (Class 04)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848" y="5059680"/>
            <a:ext cx="0" cy="309288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0800000">
            <a:off x="6015848" y="5333968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35528" y="5486400"/>
            <a:ext cx="5120640" cy="685800"/>
          </a:xfrm>
          <a:prstGeom prst="roundRect">
            <a:avLst>
              <a:gd name="adj" fmla="val 14000"/>
            </a:avLst>
          </a:prstGeom>
          <a:solidFill>
            <a:srgbClr val="E4F9FB"/>
          </a:solidFill>
          <a:ln w="1778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5528" y="5486400"/>
            <a:ext cx="5120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VARIABLE  (today)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THE HERO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18408" y="1417320"/>
            <a:ext cx="4754880" cy="464457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718408" y="1417320"/>
            <a:ext cx="4754880" cy="4644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PROBLEM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848" y="1909209"/>
            <a:ext cx="0" cy="44789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10800000">
            <a:off x="6015848" y="1918998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18408" y="2071430"/>
            <a:ext cx="4754880" cy="464457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8408" y="2071430"/>
            <a:ext cx="4754880" cy="4644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LOGIC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5848" y="2563320"/>
            <a:ext cx="0" cy="44789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10800000">
            <a:off x="6015848" y="2573109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18408" y="2725541"/>
            <a:ext cx="4754880" cy="464457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8408" y="2725541"/>
            <a:ext cx="4754880" cy="4644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ALGORITHM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8" y="3217430"/>
            <a:ext cx="0" cy="44789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6015848" y="3227219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18408" y="3379651"/>
            <a:ext cx="4754880" cy="464457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8408" y="3379651"/>
            <a:ext cx="4754880" cy="4644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PYTHON CODE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5848" y="3871541"/>
            <a:ext cx="0" cy="44789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0800000">
            <a:off x="6015848" y="3881330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18408" y="4033762"/>
            <a:ext cx="4754880" cy="464457"/>
          </a:xfrm>
          <a:prstGeom prst="roundRect">
            <a:avLst>
              <a:gd name="adj" fmla="val 14000"/>
            </a:avLst>
          </a:prstGeom>
          <a:solidFill>
            <a:srgbClr val="E4F9FB"/>
          </a:solidFill>
          <a:ln w="1778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18408" y="4033762"/>
            <a:ext cx="4754880" cy="4644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VARIABLES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5848" y="4525651"/>
            <a:ext cx="0" cy="44789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0800000">
            <a:off x="6015848" y="4535440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718408" y="4687872"/>
            <a:ext cx="4754880" cy="464457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8408" y="4687872"/>
            <a:ext cx="4754880" cy="4644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RUN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5848" y="5179762"/>
            <a:ext cx="0" cy="44789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10800000">
            <a:off x="6015848" y="5189551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718408" y="5341983"/>
            <a:ext cx="4754880" cy="464457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3970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18408" y="5341983"/>
            <a:ext cx="4754880" cy="4644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1E3A72"/>
                </a:solidFill>
                <a:latin typeface="Aptos"/>
              </a:rPr>
              <a:t>OUTPUT /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1">
                <a:solidFill>
                  <a:srgbClr val="647085"/>
                </a:solidFill>
                <a:latin typeface="Aptos"/>
              </a:rPr>
              <a:t>Cyan = new today  ·  Card = already known from Classes 01 and 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1371600" cy="384048"/>
          </a:xfrm>
          <a:prstGeom prst="roundRect">
            <a:avLst>
              <a:gd name="adj" fmla="val 6000"/>
            </a:avLst>
          </a:prstGeom>
          <a:solidFill>
            <a:srgbClr val="E4F9FB"/>
          </a:solidFill>
          <a:ln w="12700">
            <a:solidFill>
              <a:srgbClr val="9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 i="0">
                <a:solidFill>
                  <a:srgbClr val="1E3A72"/>
                </a:solidFill>
                <a:latin typeface="Aptos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TRY IT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E3A72"/>
                </a:solidFill>
                <a:latin typeface="Aptos Display"/>
              </a:rPr>
              <a:t>Variable Profile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F2733"/>
                </a:solidFill>
                <a:latin typeface="Aptos"/>
              </a:rPr>
              <a:t>At least four variables: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F2733"/>
                </a:solidFill>
                <a:latin typeface="Aptos"/>
              </a:rPr>
              <a:t>one string, one int, one float, one boolean.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1">
                <a:solidFill>
                  <a:srgbClr val="647085"/>
                </a:solidFill>
                <a:latin typeface="Aptos"/>
              </a:rPr>
              <a:t>Then print() each one in a full sentence, combining text and variables with commas.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A STARTING POINT (OPTIONAL)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Variable Profile Card —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67128"/>
            <a:ext cx="10911535" cy="3904488"/>
          </a:xfrm>
          <a:prstGeom prst="roundRect">
            <a:avLst>
              <a:gd name="adj" fmla="val 6000"/>
            </a:avLst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423160"/>
            <a:ext cx="128016" cy="128016"/>
          </a:xfrm>
          <a:prstGeom prst="ellipse">
            <a:avLst/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606040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FFFFFF"/>
                </a:solidFill>
                <a:latin typeface="Consolas"/>
              </a:rPr>
              <a:t>name = "___"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172968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FFFFFF"/>
                </a:solidFill>
                <a:latin typeface="Consolas"/>
              </a:rPr>
              <a:t>age = 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739896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FFFFFF"/>
                </a:solidFill>
                <a:latin typeface="Consolas"/>
              </a:rPr>
              <a:t>height = 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4306824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FFFFFF"/>
                </a:solidFill>
                <a:latin typeface="Consolas"/>
              </a:rPr>
              <a:t>is_student = 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4873752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5440680"/>
            <a:ext cx="100428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FFFFFF"/>
                </a:solidFill>
                <a:latin typeface="Consolas"/>
              </a:rPr>
              <a:t>print("My name is", name)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REFLECT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The instant you reassign a</a:t>
            </a:r>
          </a:p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variable, what happens to its</a:t>
            </a:r>
          </a:p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old value?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 i="1">
                <a:solidFill>
                  <a:srgbClr val="647085"/>
                </a:solidFill>
                <a:latin typeface="Aptos"/>
              </a:rPr>
              <a:t>Completely replaced. Nothing is kept.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QUICK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E3A72"/>
                </a:solidFill>
                <a:latin typeface="Aptos Display"/>
              </a:rPr>
              <a:t>Quick Recap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63624"/>
            <a:ext cx="777240" cy="41148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75104"/>
            <a:ext cx="1589989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75104"/>
            <a:ext cx="158998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VARIABLE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4389" y="1975104"/>
            <a:ext cx="1589989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4389" y="1975104"/>
            <a:ext cx="158998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ASSIGNMENT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698" y="1975104"/>
            <a:ext cx="1589989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8698" y="1975104"/>
            <a:ext cx="158998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8" y="1975104"/>
            <a:ext cx="1589989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8" y="1975104"/>
            <a:ext cx="158998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FLOAT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7" y="1975104"/>
            <a:ext cx="1589989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7317" y="1975104"/>
            <a:ext cx="158998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STR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1626" y="1975104"/>
            <a:ext cx="1589989" cy="914400"/>
          </a:xfrm>
          <a:prstGeom prst="roundRect">
            <a:avLst>
              <a:gd name="adj" fmla="val 14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1626" y="1975104"/>
            <a:ext cx="158998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1E3A72"/>
                </a:solidFill>
                <a:latin typeface="Aptos"/>
              </a:rPr>
              <a:t>BOOL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06724"/>
            <a:ext cx="1370686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13048"/>
            <a:ext cx="13706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i="0">
                <a:solidFill>
                  <a:srgbClr val="1E3A72"/>
                </a:solidFill>
                <a:latin typeface="Aptos"/>
              </a:rPr>
              <a:t>PROBLEM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65630" y="4032504"/>
            <a:ext cx="19728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2050358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230222" y="3506724"/>
            <a:ext cx="1370686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30222" y="3813048"/>
            <a:ext cx="13706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i="0">
                <a:solidFill>
                  <a:srgbClr val="1E3A72"/>
                </a:solidFill>
                <a:latin typeface="Aptos"/>
              </a:rPr>
              <a:t>LOGIC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55771" y="4032504"/>
            <a:ext cx="19728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3640499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20363" y="3506724"/>
            <a:ext cx="1370686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20363" y="3813048"/>
            <a:ext cx="13706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i="0">
                <a:solidFill>
                  <a:srgbClr val="1E3A72"/>
                </a:solidFill>
                <a:latin typeface="Aptos"/>
              </a:rPr>
              <a:t>ALGORITHM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245913" y="4032504"/>
            <a:ext cx="19728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5230641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10505" y="3506724"/>
            <a:ext cx="1370686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10505" y="3813048"/>
            <a:ext cx="13706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i="0">
                <a:solidFill>
                  <a:srgbClr val="1E3A72"/>
                </a:solidFill>
                <a:latin typeface="Aptos"/>
              </a:rPr>
              <a:t>PYTHON</a:t>
            </a:r>
          </a:p>
          <a:p>
            <a:pPr algn="ctr">
              <a:lnSpc>
                <a:spcPct val="108000"/>
              </a:lnSpc>
            </a:pPr>
            <a:r>
              <a:rPr sz="1050" b="1" i="0">
                <a:solidFill>
                  <a:srgbClr val="1E3A72"/>
                </a:solidFill>
                <a:latin typeface="Aptos"/>
              </a:rPr>
              <a:t>CODE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36054" y="4032504"/>
            <a:ext cx="19728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6820782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000646" y="3506724"/>
            <a:ext cx="1370686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00646" y="3813048"/>
            <a:ext cx="13706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i="0">
                <a:solidFill>
                  <a:srgbClr val="1E3A72"/>
                </a:solidFill>
                <a:latin typeface="Aptos"/>
              </a:rPr>
              <a:t>VARIABLES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426196" y="4032504"/>
            <a:ext cx="19728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8410924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590788" y="3506724"/>
            <a:ext cx="1370686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0788" y="3813048"/>
            <a:ext cx="13706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i="0">
                <a:solidFill>
                  <a:srgbClr val="1E3A72"/>
                </a:solidFill>
                <a:latin typeface="Aptos"/>
              </a:rPr>
              <a:t>RUN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016337" y="4032504"/>
            <a:ext cx="19728" cy="0"/>
          </a:xfrm>
          <a:prstGeom prst="line">
            <a:avLst/>
          </a:prstGeom>
          <a:ln w="22225">
            <a:solidFill>
              <a:srgbClr val="2A5C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10001065" y="3952504"/>
            <a:ext cx="160000" cy="160000"/>
          </a:xfrm>
          <a:prstGeom prst="triangle">
            <a:avLst/>
          </a:prstGeom>
          <a:solidFill>
            <a:srgbClr val="2A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180929" y="3506724"/>
            <a:ext cx="1370686" cy="1051560"/>
          </a:xfrm>
          <a:prstGeom prst="roundRect">
            <a:avLst>
              <a:gd name="adj" fmla="val 9000"/>
            </a:avLst>
          </a:prstGeom>
          <a:solidFill>
            <a:srgbClr val="EEF3FB"/>
          </a:solidFill>
          <a:ln w="15875">
            <a:solidFill>
              <a:srgbClr val="C7D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80929" y="3813048"/>
            <a:ext cx="13706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i="0">
                <a:solidFill>
                  <a:srgbClr val="1E3A72"/>
                </a:solidFill>
                <a:latin typeface="Aptos"/>
              </a:rPr>
              <a:t>OUTPUT/</a:t>
            </a:r>
          </a:p>
          <a:p>
            <a:pPr algn="ctr">
              <a:lnSpc>
                <a:spcPct val="108000"/>
              </a:lnSpc>
            </a:pPr>
            <a:r>
              <a:rPr sz="1050" b="1" i="0">
                <a:solidFill>
                  <a:srgbClr val="1E3A72"/>
                </a:solidFill>
                <a:latin typeface="Aptos"/>
              </a:rPr>
              <a:t>RESULT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A5CB8"/>
                </a:solidFill>
                <a:latin typeface="Aptos"/>
              </a:rPr>
              <a:t>A QUESTION FOR NEXT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700" b="1" i="0">
                <a:solidFill>
                  <a:srgbClr val="1E3A72"/>
                </a:solidFill>
                <a:latin typeface="Aptos Display"/>
              </a:rPr>
              <a:t>We can print numbers now — but we</a:t>
            </a:r>
          </a:p>
          <a:p>
            <a:pPr algn="ctr">
              <a:lnSpc>
                <a:spcPct val="115000"/>
              </a:lnSpc>
            </a:pPr>
            <a:r>
              <a:rPr sz="2700" b="1" i="0">
                <a:solidFill>
                  <a:srgbClr val="1E3A72"/>
                </a:solidFill>
                <a:latin typeface="Aptos Display"/>
              </a:rPr>
              <a:t>haven't done any math with them.</a:t>
            </a:r>
          </a:p>
          <a:p>
            <a:pPr algn="ctr">
              <a:lnSpc>
                <a:spcPct val="115000"/>
              </a:lnSpc>
            </a:pPr>
            <a:r>
              <a:rPr sz="2700" b="1" i="0">
                <a:solidFill>
                  <a:srgbClr val="1E3A72"/>
                </a:solidFill>
                <a:latin typeface="Aptos Display"/>
              </a:rPr>
              <a:t>What happens when a program needs</a:t>
            </a:r>
          </a:p>
          <a:p>
            <a:pPr algn="ctr">
              <a:lnSpc>
                <a:spcPct val="115000"/>
              </a:lnSpc>
            </a:pPr>
            <a:r>
              <a:rPr sz="2700" b="1" i="0">
                <a:solidFill>
                  <a:srgbClr val="1E3A72"/>
                </a:solidFill>
                <a:latin typeface="Aptos Display"/>
              </a:rPr>
              <a:t>to add, compare, or calculate?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Bong Study Hub  ·  Foundation Batch 2026  ·  Class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788920"/>
            <a:ext cx="914400" cy="54864"/>
          </a:xfrm>
          <a:prstGeom prst="roundRect">
            <a:avLst>
              <a:gd name="adj" fmla="val 6000"/>
            </a:avLst>
          </a:prstGeom>
          <a:solidFill>
            <a:srgbClr val="22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231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2C7E0"/>
                </a:solidFill>
                <a:latin typeface="Aptos"/>
              </a:rPr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7180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Aptos Display"/>
              </a:rPr>
              <a:t>“Last class, your programs could</a:t>
            </a:r>
          </a:p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Aptos Display"/>
              </a:rPr>
              <a:t>only ever say the exact same thing.</a:t>
            </a:r>
          </a:p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Aptos Display"/>
              </a:rPr>
              <a:t>Today, they can hold something, change</a:t>
            </a:r>
          </a:p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Aptos Display"/>
              </a:rPr>
              <a:t>it, and tell you about it. That one idea</a:t>
            </a:r>
          </a:p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Aptos Display"/>
              </a:rPr>
              <a:t>is what makes a program feel alive</a:t>
            </a:r>
          </a:p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Aptos Display"/>
              </a:rPr>
              <a:t>instead of frozen.”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B82AE"/>
                </a:solidFill>
                <a:latin typeface="Aptos"/>
              </a:rPr>
              <a:t>Bong Study Hub  ·  Foundation Batch 2026  ·  Class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50" b="0" i="0">
                <a:solidFill>
                  <a:srgbClr val="647085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