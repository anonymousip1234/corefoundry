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2 min</a:t>
            </a:r>
          </a:p>
          <a:p>
            <a:r>
              <a:t>Purpose: Set tone; do not read the slide aloud.</a:t>
            </a:r>
          </a:p>
          <a:p>
            <a:r>
              <a:t>Say: Open with the live 'add these two prices' demonstration (Guide §8) before this slide is even shown, if possible.</a:t>
            </a:r>
          </a:p>
          <a:p>
            <a:r>
              <a:t>Transition: Now that we can store values, how do we actually compute, compare, and combine them?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[ASK] [PAUSE] [DO NOT ANSWER YET]</a:t>
            </a:r>
          </a:p>
          <a:p>
            <a:r>
              <a:t>TIME: (closes Guide §8)</a:t>
            </a:r>
          </a:p>
          <a:p>
            <a:r>
              <a:t>Purpose: Land the central question right after the live 'can't add two prices yet' demonstration.</a:t>
            </a:r>
          </a:p>
          <a:p>
            <a:r>
              <a:t>Board: None.</a:t>
            </a:r>
          </a:p>
          <a:p>
            <a:r>
              <a:t>Transition: Let's go back to exactly where Class 06 left off — and to something even older.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[ASK]</a:t>
            </a:r>
          </a:p>
          <a:p>
            <a:r>
              <a:t>TIME: 5 min (Guide §9)</a:t>
            </a:r>
          </a:p>
          <a:p>
            <a:r>
              <a:t>Purpose: Reopen Class 06's unresolved hook and Class 01's LOGIC box together - both get answered today.</a:t>
            </a:r>
          </a:p>
          <a:p>
            <a:r>
              <a:t>Ask: What did Class 06 leave unanswered? What did Class 01's LOGIC box actually mean, concretely?</a:t>
            </a:r>
          </a:p>
          <a:p>
            <a:r>
              <a:t>Expected: How to compute/compare values. Most will admit it was always a bit abstract.</a:t>
            </a:r>
          </a:p>
          <a:p>
            <a:r>
              <a:t>Board: None.</a:t>
            </a:r>
          </a:p>
          <a:p>
            <a:r>
              <a:t>Transition: Let's name the toolkit that does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5 min (Guide §10)</a:t>
            </a:r>
          </a:p>
          <a:p>
            <a:r>
              <a:t>Purpose: Name the toolkit and the word 'operand' before meeting any specific operator.</a:t>
            </a:r>
          </a:p>
          <a:p>
            <a:r>
              <a:t>Say: Today we'll meet three families: arithmetic (math), comparison (true/false questions), and logical (combining true/false answers).</a:t>
            </a:r>
          </a:p>
          <a:p>
            <a:r>
              <a:t>Ask: What is an operator, in your own words?</a:t>
            </a:r>
          </a:p>
          <a:p>
            <a:r>
              <a:t>Expected: A symbol that acts on values to produce a new one.</a:t>
            </a:r>
          </a:p>
          <a:p>
            <a:r>
              <a:t>Board: None.</a:t>
            </a:r>
          </a:p>
          <a:p>
            <a:r>
              <a:t>Transition: Let's start with the family you already know from math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[LIVE]</a:t>
            </a:r>
          </a:p>
          <a:p>
            <a:r>
              <a:t>TIME: 4 min (part of Guide §11) — NON-NEGOTIABLE</a:t>
            </a:r>
          </a:p>
          <a:p>
            <a:r>
              <a:t>Purpose: A variable can now hold the RESULT of a computation, not just something typed in directly - this is genuinely new.</a:t>
            </a:r>
          </a:p>
          <a:p>
            <a:r>
              <a:t>Say: + computed a brand-new value from two variables, and we stored that new value in total.</a:t>
            </a:r>
          </a:p>
          <a:p>
            <a:r>
              <a:t>Board: Live screen.</a:t>
            </a:r>
          </a:p>
          <a:p>
            <a:r>
              <a:t>Transition: Three more arithmetic operators work exactly the way you'd expect from math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[TYPE-ALONG]</a:t>
            </a:r>
          </a:p>
          <a:p>
            <a:r>
              <a:t>TIME: 4 min (closes Guide §11) — NON-NEGOTIABLE</a:t>
            </a:r>
          </a:p>
          <a:p>
            <a:r>
              <a:t>Purpose: Predict each result before running. Land the precision point: / always gives a float, even 10 / 2.</a:t>
            </a:r>
          </a:p>
          <a:p>
            <a:r>
              <a:t>Ask: What data type does / always produce?</a:t>
            </a:r>
          </a:p>
          <a:p>
            <a:r>
              <a:t>Expected: A float.</a:t>
            </a:r>
          </a:p>
          <a:p>
            <a:r>
              <a:t>Board: Live screen.</a:t>
            </a:r>
          </a:p>
          <a:p>
            <a:r>
              <a:t>Transition: Two more arithmetic operators exist, and they behave a little differently from what you're used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7 min (Guide §12) — NON-NEGOTIABLE</a:t>
            </a:r>
          </a:p>
          <a:p>
            <a:r>
              <a:t>Purpose: // floors division to a whole number; % gives the remainder. Both behave differently from / and *.</a:t>
            </a:r>
          </a:p>
          <a:p>
            <a:r>
              <a:t>Say: number % 2 == 0 is exactly how programs check whether a number is even - we're not writing that check today, that's Class 08, but now you know where the tool comes from.</a:t>
            </a:r>
          </a:p>
          <a:p>
            <a:r>
              <a:t>Ask: What does // do? What does % give you?</a:t>
            </a:r>
          </a:p>
          <a:p>
            <a:r>
              <a:t>Expected: Keeps only the whole-number part. The remainder.</a:t>
            </a:r>
          </a:p>
          <a:p>
            <a:r>
              <a:t>Board: Live screen.</a:t>
            </a:r>
          </a:p>
          <a:p>
            <a:r>
              <a:t>Transition: What happens when an expression uses more than one operator at once?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[ASK] [PAUSE]</a:t>
            </a:r>
          </a:p>
          <a:p>
            <a:r>
              <a:t>TIME: (opens Guide §13)</a:t>
            </a:r>
          </a:p>
          <a:p>
            <a:r>
              <a:t>Purpose: Let guesses happen before revealing - many will guess 20 (adding first).</a:t>
            </a:r>
          </a:p>
          <a:p>
            <a:r>
              <a:t>Board: None.</a:t>
            </a:r>
          </a:p>
          <a:p>
            <a:r>
              <a:t>Transition: Let's actually run it and see.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(closes Guide §13)</a:t>
            </a:r>
          </a:p>
          <a:p>
            <a:r>
              <a:t>Purpose: Python follows the same order of operations as math class - multiplication/division before addition/subtraction, unless parentheses say otherwise.</a:t>
            </a:r>
          </a:p>
          <a:p>
            <a:r>
              <a:t>Say: When in doubt, use parentheses to make your intent explicit, even where they aren't strictly required.</a:t>
            </a:r>
          </a:p>
          <a:p>
            <a:r>
              <a:t>Board: Live screen.</a:t>
            </a:r>
          </a:p>
          <a:p>
            <a:r>
              <a:t>Transition: Let's name what all of these lines actually 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6 min (Guide §14)</a:t>
            </a:r>
          </a:p>
          <a:p>
            <a:r>
              <a:t>Purpose: Name what's been happening all along - price1 + price2, 9 // 2, and (2+3)*4 are all expressions.</a:t>
            </a:r>
          </a:p>
          <a:p>
            <a:r>
              <a:t>Say: subtotal = price1 + price2, then tax = subtotal * 0.1, then total = subtotal + tax - each line's expression can use the result of a previous line.</a:t>
            </a:r>
          </a:p>
          <a:p>
            <a:r>
              <a:t>Ask: What is an expression, in your own words?</a:t>
            </a:r>
          </a:p>
          <a:p>
            <a:r>
              <a:t>Expected: Any piece of code that produces a value.</a:t>
            </a:r>
          </a:p>
          <a:p>
            <a:r>
              <a:t>Board: Live screen.</a:t>
            </a:r>
          </a:p>
          <a:p>
            <a:r>
              <a:t>Transition: So far every expression has produced a number. Let's meet a family whose expressions always produce a boolean.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[LIVE] [ASK]</a:t>
            </a:r>
          </a:p>
          <a:p>
            <a:r>
              <a:t>TIME: 8 min (Guide §15) — NON-NEGOTIABLE</a:t>
            </a:r>
          </a:p>
          <a:p>
            <a:r>
              <a:t>Purpose: Every comparison produces a boolean - exactly the data type from Class 06.</a:t>
            </a:r>
          </a:p>
          <a:p>
            <a:r>
              <a:t>Say: == equal to, != not equal to, &lt; less than, &gt; greater than, &lt;= less than or equal to, &gt;= greater than or equal to.</a:t>
            </a:r>
          </a:p>
          <a:p>
            <a:r>
              <a:t>Ask: What data type does every comparison produce?</a:t>
            </a:r>
          </a:p>
          <a:p>
            <a:r>
              <a:t>Expected: A boolean.</a:t>
            </a:r>
          </a:p>
          <a:p>
            <a:r>
              <a:t>Board: Live screen.</a:t>
            </a:r>
          </a:p>
          <a:p>
            <a:r>
              <a:t>Transition: Look very closely at the first line I typed — count the equals signs.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[TYPE-ALONG] [ASK]</a:t>
            </a:r>
          </a:p>
          <a:p>
            <a:r>
              <a:t>TIME: 6 min (Guide §16) — NON-NEGOTIABLE</a:t>
            </a:r>
          </a:p>
          <a:p>
            <a:r>
              <a:t>Purpose: The single most important guardrail in the class - they look almost identical and mean completely different things.</a:t>
            </a:r>
          </a:p>
          <a:p>
            <a:r>
              <a:t>Say: This mix-up is so common that even experienced programmers still catch themselves doing it.</a:t>
            </a:r>
          </a:p>
          <a:p>
            <a:r>
              <a:t>Ask: Do = and == ever mean the same thing?</a:t>
            </a:r>
          </a:p>
          <a:p>
            <a:r>
              <a:t>Expected: No — never.</a:t>
            </a:r>
          </a:p>
          <a:p>
            <a:r>
              <a:t>Board: Live screen.</a:t>
            </a:r>
          </a:p>
          <a:p>
            <a:r>
              <a:t>Transition: Sometimes one true/false question isn't enough.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[TYPE-ALONG]</a:t>
            </a:r>
          </a:p>
          <a:p>
            <a:r>
              <a:t>TIME: 9 min (Guide §17) — NON-NEGOTIABLE</a:t>
            </a:r>
          </a:p>
          <a:p>
            <a:r>
              <a:t>Purpose: and gives True only if both sides are true; or gives True if at least one side is true; not flips a boolean.</a:t>
            </a:r>
          </a:p>
          <a:p>
            <a:r>
              <a:t>Ask: When does and give True? When does or give True?</a:t>
            </a:r>
          </a:p>
          <a:p>
            <a:r>
              <a:t>Expected: Only when both sides are true. When at least one side is true.</a:t>
            </a:r>
          </a:p>
          <a:p>
            <a:r>
              <a:t>Board: Live screen.</a:t>
            </a:r>
          </a:p>
          <a:p>
            <a:r>
              <a:t>Transition: Let's build something that actually feels like a real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7 min (Guide §18)</a:t>
            </a:r>
          </a:p>
          <a:p>
            <a:r>
              <a:t>Purpose: This reads almost like English - a real rule a real program might check, built from nothing but variables and operators from the last two classes.</a:t>
            </a:r>
          </a:p>
          <a:p>
            <a:r>
              <a:t>Ask: Using age, write a condition for 'is a teenager' — 13 through 19, inclusive.</a:t>
            </a:r>
          </a:p>
          <a:p>
            <a:r>
              <a:t>Expected: age &gt;= 13 and age &lt;= 19</a:t>
            </a:r>
          </a:p>
          <a:p>
            <a:r>
              <a:t>Board: Live screen.</a:t>
            </a:r>
          </a:p>
          <a:p>
            <a:r>
              <a:t>Transition: Let's connect this whole idea to something from Week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6 min (Guide §19)</a:t>
            </a:r>
          </a:p>
          <a:p>
            <a:r>
              <a:t>Purpose: Every time you've ever reasoned 'this AND that must both be true,' you were doing exactly what today's operators do.</a:t>
            </a:r>
          </a:p>
          <a:p>
            <a:r>
              <a:t>Ask: What did Class 01's LOGIC box actually mean? What does today's class turn that reasoning into?</a:t>
            </a:r>
          </a:p>
          <a:p>
            <a:r>
              <a:t>Expected: Reasoning about how to solve a problem. Real code — operators and expressions.</a:t>
            </a:r>
          </a:p>
          <a:p>
            <a:r>
              <a:t>Board: None.</a:t>
            </a:r>
          </a:p>
          <a:p>
            <a:r>
              <a:t>Transition: Let's put the entire day's reasoning on one board — starting all the way back at Class 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[LIVE]</a:t>
            </a:r>
          </a:p>
          <a:p>
            <a:r>
              <a:t>TIME: 7 min (Guide §20) — NON-NEGOTIABLE, HERO MOMENT</a:t>
            </a:r>
          </a:p>
          <a:p>
            <a:r>
              <a:t>Purpose: Build this top to bottom, one line at a time - never reveal it finished. EXPRESSIONS isn't just new, it's the literal, coded-up version of LOGIC at the very top.</a:t>
            </a:r>
          </a:p>
          <a:p>
            <a:r>
              <a:t>Board: Whiteboard - the one non-screen drawing before the activity.</a:t>
            </a:r>
          </a:p>
          <a:p>
            <a:r>
              <a:t>Transition: Time to try this yourselves.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[ACTIVITY]</a:t>
            </a:r>
          </a:p>
          <a:p>
            <a:r>
              <a:t>TIME: 15 min (Guide §21) — NON-NEGOTIABLE, HERO ACTIVITY</a:t>
            </a:r>
          </a:p>
          <a:p>
            <a:r>
              <a:t>Purpose: Every student extends their own Class 06 program with real computation for the first time. Circulate constantly.</a:t>
            </a:r>
          </a:p>
          <a:p>
            <a:r>
              <a:t>Say: Stuck? What's a number you could multiply or divide from your card? What's a true/false question about your own age or height?</a:t>
            </a:r>
          </a:p>
          <a:p>
            <a:r>
              <a:t>Board: Circulate and read screens rather than calling on students verbally.</a:t>
            </a:r>
          </a:p>
          <a:p>
            <a:r>
              <a:t>Transition: Here's a template if you want a starting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(support for Guide §21)</a:t>
            </a:r>
          </a:p>
          <a:p>
            <a:r>
              <a:t>Purpose: A worked template for students who want a starting point - not the only correct answer, and not required.</a:t>
            </a:r>
          </a:p>
          <a:p>
            <a:r>
              <a:t>Board: None.</a:t>
            </a:r>
          </a:p>
          <a:p>
            <a:r>
              <a:t>Transition: Let a few students share one new line and its result with the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[ASK] [PAUSE]</a:t>
            </a:r>
          </a:p>
          <a:p>
            <a:r>
              <a:t>TIME: (closes Guide §21)</a:t>
            </a:r>
          </a:p>
          <a:p>
            <a:r>
              <a:t>Purpose: Re-confirm Section 16's lesson using the student's own program as the example.</a:t>
            </a:r>
          </a:p>
          <a:p>
            <a:r>
              <a:t>Board: None.</a:t>
            </a:r>
          </a:p>
          <a:p>
            <a:r>
              <a:t>Transition: Let's check a couple of misconceptions before we 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[ASK]</a:t>
            </a:r>
          </a:p>
          <a:p>
            <a:r>
              <a:t>TIME: 4 min (Guide §23) — NON-NEGOTIABLE</a:t>
            </a:r>
          </a:p>
          <a:p>
            <a:r>
              <a:t>Purpose: One visual summary of every keyword and the full bridged chain.</a:t>
            </a:r>
          </a:p>
          <a:p>
            <a:r>
              <a:t>Ask: What's the difference between / and //? What does % give you? What data type does a comparison produce? What's the difference between = and ==? When does and give True?</a:t>
            </a:r>
          </a:p>
          <a:p>
            <a:r>
              <a:t>Board: None.</a:t>
            </a:r>
          </a:p>
          <a:p>
            <a:r>
              <a:t>Transition: One question to leave you with.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[DO NOT ANSWER]</a:t>
            </a:r>
          </a:p>
          <a:p>
            <a:r>
              <a:t>TIME: (Guide §24)</a:t>
            </a:r>
          </a:p>
          <a:p>
            <a:r>
              <a:t>Purpose: Leave this open as a deliberate hook into Class 08 (Making Decisions: if/elif/else).</a:t>
            </a:r>
          </a:p>
          <a:p>
            <a:r>
              <a:t>Board: None.</a:t>
            </a:r>
          </a:p>
          <a:p>
            <a:r>
              <a:t>Transition: Class ends on the final takeaway.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1 min</a:t>
            </a:r>
          </a:p>
          <a:p>
            <a:r>
              <a:t>Purpose: Close the class on this exact line, said slowly.</a:t>
            </a:r>
          </a:p>
          <a:p>
            <a:r>
              <a:t>Board: None.</a:t>
            </a:r>
          </a:p>
          <a:p>
            <a:r>
              <a:t>Transition: Class ends.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1965960"/>
            <a:ext cx="1097280" cy="54864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00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2C7E0"/>
                </a:solidFill>
                <a:latin typeface="Aptos"/>
              </a:rPr>
              <a:t>BONG STUDY HUB · FOUNDATION BATCH 2026 · CLASS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5000" b="1" i="0">
                <a:solidFill>
                  <a:srgbClr val="FFFFFF"/>
                </a:solidFill>
                <a:latin typeface="Aptos Display"/>
              </a:rPr>
              <a:t>Operators &amp;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0896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5000" b="1" i="0">
                <a:solidFill>
                  <a:srgbClr val="FFFFFF"/>
                </a:solidFill>
                <a:latin typeface="Aptos Display"/>
              </a:rPr>
              <a:t>Expressions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0" i="1">
                <a:solidFill>
                  <a:srgbClr val="B9CCEE"/>
                </a:solidFill>
                <a:latin typeface="Aptos"/>
              </a:rPr>
              <a:t>Class 01's LOGIC, Made Literal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0350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FA6D1"/>
                </a:solidFill>
                <a:latin typeface="Aptos"/>
              </a:rPr>
              <a:t>Bong Study Hub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FA6D1"/>
                </a:solidFill>
                <a:latin typeface="Aptos"/>
              </a:rPr>
              <a:t>Foundation Batch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THE BIG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2651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Now that we can store values,</a:t>
            </a:r>
          </a:p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how do we actually compute,</a:t>
            </a:r>
          </a:p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compare, and combine them?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TWO BOXES REOPENED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Reopening Two Boxes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203704"/>
            <a:ext cx="5181448" cy="246888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478024"/>
            <a:ext cx="4541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CLASS 06 LEFT OPEN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889504"/>
            <a:ext cx="45413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E3A72"/>
                </a:solidFill>
                <a:latin typeface="Aptos Display"/>
              </a:rPr>
              <a:t>No Way to Compute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621024"/>
            <a:ext cx="454136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F2733"/>
                </a:solidFill>
                <a:latin typeface="Aptos"/>
              </a:rPr>
              <a:t>We can print numbers, but we haven't done any math with them, or compared two values.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70168" y="2203704"/>
            <a:ext cx="5181448" cy="2468880"/>
          </a:xfrm>
          <a:prstGeom prst="roundRect">
            <a:avLst>
              <a:gd name="adj" fmla="val 5000"/>
            </a:avLst>
          </a:prstGeom>
          <a:solidFill>
            <a:srgbClr val="E4F9FB"/>
          </a:solidFill>
          <a:ln w="15875">
            <a:solidFill>
              <a:srgbClr val="9F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90208" y="2478024"/>
            <a:ext cx="4541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1E3A72"/>
                </a:solidFill>
                <a:latin typeface="Aptos"/>
              </a:rPr>
              <a:t>CLASS 01 REOPENED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0208" y="2889504"/>
            <a:ext cx="45413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E3A72"/>
                </a:solidFill>
                <a:latin typeface="Aptos Display"/>
              </a:rPr>
              <a:t>LOGIC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0208" y="3621024"/>
            <a:ext cx="454136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F2733"/>
                </a:solidFill>
                <a:latin typeface="Aptos"/>
              </a:rPr>
              <a:t>“Reasoning about how to solve a problem” — never once shown as real code, since Week 1.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21528" y="3118104"/>
            <a:ext cx="5486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3000" b="1" i="0">
                <a:solidFill>
                  <a:srgbClr val="1E3A72"/>
                </a:solidFill>
                <a:latin typeface="Aptos Display"/>
              </a:rP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NAMING THE TOOLKIT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What Is an Operator?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66544"/>
            <a:ext cx="10911535" cy="1724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6400" b="1" i="0">
                <a:solidFill>
                  <a:srgbClr val="1E3A72"/>
                </a:solidFill>
                <a:latin typeface="Aptos Display"/>
              </a:rPr>
              <a:t>OPERATOR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38648" y="3955146"/>
            <a:ext cx="914400" cy="36576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183746"/>
            <a:ext cx="10911535" cy="18242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1F2733"/>
                </a:solidFill>
                <a:latin typeface="Aptos"/>
              </a:rPr>
              <a:t>A SYMBOL THAT ACTS ON VALUES</a:t>
            </a:r>
          </a:p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1F2733"/>
                </a:solidFill>
                <a:latin typeface="Aptos"/>
              </a:rPr>
              <a:t/>
            </a:r>
          </a:p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1F2733"/>
                </a:solidFill>
                <a:latin typeface="Aptos"/>
              </a:rPr>
              <a:t>VARIABLES ARE THE NOUNS —</a:t>
            </a:r>
          </a:p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1F2733"/>
                </a:solidFill>
                <a:latin typeface="Aptos"/>
              </a:rPr>
              <a:t>OPERATORS ARE THE VERBS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COMPUTING A NEW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Arithmetic: The Basics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066544"/>
            <a:ext cx="10911535" cy="2217054"/>
          </a:xfrm>
          <a:prstGeom prst="roundRect">
            <a:avLst>
              <a:gd name="adj" fmla="val 6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2322576"/>
            <a:ext cx="128016" cy="12801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8" y="2505456"/>
            <a:ext cx="10042855" cy="428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0" i="0">
                <a:solidFill>
                  <a:srgbClr val="FFFFFF"/>
                </a:solidFill>
                <a:latin typeface="Consolas"/>
              </a:rPr>
              <a:t>price1 = 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" y="2933990"/>
            <a:ext cx="10042855" cy="428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0" i="0">
                <a:solidFill>
                  <a:srgbClr val="FFFFFF"/>
                </a:solidFill>
                <a:latin typeface="Consolas"/>
              </a:rPr>
              <a:t>price2 = 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3362523"/>
            <a:ext cx="10042855" cy="428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0" i="0">
                <a:solidFill>
                  <a:srgbClr val="FFFFFF"/>
                </a:solidFill>
                <a:latin typeface="Consolas"/>
              </a:rPr>
              <a:t>total = price1 + price2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3791057"/>
            <a:ext cx="10042855" cy="428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0" i="0">
                <a:solidFill>
                  <a:srgbClr val="FFFFFF"/>
                </a:solidFill>
                <a:latin typeface="Consolas"/>
              </a:rPr>
              <a:t>print(total)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603638"/>
            <a:ext cx="10911535" cy="1568562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4603638"/>
            <a:ext cx="82296" cy="1568562"/>
          </a:xfrm>
          <a:prstGeom prst="rect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749942"/>
            <a:ext cx="103628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647085"/>
                </a:solidFill>
                <a:latin typeface="Aptos"/>
              </a:rP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106558"/>
            <a:ext cx="10362895" cy="9284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 i="0">
                <a:solidFill>
                  <a:srgbClr val="1F2733"/>
                </a:solidFill>
                <a:latin typeface="Consolas"/>
              </a:rPr>
              <a:t>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THE REST OF THE FAMILY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Subtraction, Multiplication, Division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073219"/>
            <a:ext cx="10911535" cy="2203704"/>
          </a:xfrm>
          <a:prstGeom prst="roundRect">
            <a:avLst>
              <a:gd name="adj" fmla="val 6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2329251"/>
            <a:ext cx="128016" cy="12801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8" y="2512131"/>
            <a:ext cx="1004285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0" i="0">
                <a:solidFill>
                  <a:srgbClr val="FFFFFF"/>
                </a:solidFill>
                <a:latin typeface="Consolas"/>
              </a:rPr>
              <a:t>print(10 - 3)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" y="3079059"/>
            <a:ext cx="1004285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0" i="0">
                <a:solidFill>
                  <a:srgbClr val="FFFFFF"/>
                </a:solidFill>
                <a:latin typeface="Consolas"/>
              </a:rPr>
              <a:t>print(4 * 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3645987"/>
            <a:ext cx="1004285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0" i="0">
                <a:solidFill>
                  <a:srgbClr val="FFFFFF"/>
                </a:solidFill>
                <a:latin typeface="Consolas"/>
              </a:rPr>
              <a:t>print(9 / 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603638"/>
            <a:ext cx="10911535" cy="1568562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603638"/>
            <a:ext cx="82296" cy="1568562"/>
          </a:xfrm>
          <a:prstGeom prst="rect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749942"/>
            <a:ext cx="103628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647085"/>
                </a:solidFill>
                <a:latin typeface="Aptos"/>
              </a:rPr>
              <a:t>OUTPUT — notice / always gives a float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106558"/>
            <a:ext cx="10362895" cy="9284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1F2733"/>
                </a:solidFill>
                <a:latin typeface="Consolas"/>
              </a:rPr>
              <a:t>7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1F2733"/>
                </a:solidFill>
                <a:latin typeface="Consolas"/>
              </a:rPr>
              <a:t>20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1F2733"/>
                </a:solidFill>
                <a:latin typeface="Consolas"/>
              </a:rPr>
              <a:t>4.5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TWO SPECIAL OPERATORS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// and %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356683"/>
            <a:ext cx="10911535" cy="1636776"/>
          </a:xfrm>
          <a:prstGeom prst="roundRect">
            <a:avLst>
              <a:gd name="adj" fmla="val 6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2612715"/>
            <a:ext cx="128016" cy="12801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8" y="2795595"/>
            <a:ext cx="1004285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0" i="0">
                <a:solidFill>
                  <a:srgbClr val="FFFFFF"/>
                </a:solidFill>
                <a:latin typeface="Consolas"/>
              </a:rPr>
              <a:t>print(9 // 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" y="3362523"/>
            <a:ext cx="1004285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0" i="0">
                <a:solidFill>
                  <a:srgbClr val="FFFFFF"/>
                </a:solidFill>
                <a:latin typeface="Consolas"/>
              </a:rPr>
              <a:t>print(9 % 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603638"/>
            <a:ext cx="10911535" cy="1568562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4603638"/>
            <a:ext cx="82296" cy="1568562"/>
          </a:xfrm>
          <a:prstGeom prst="rect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749942"/>
            <a:ext cx="103628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647085"/>
                </a:solidFill>
                <a:latin typeface="Aptos"/>
              </a:rPr>
              <a:t>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106558"/>
            <a:ext cx="10362895" cy="9284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0" i="0">
                <a:solidFill>
                  <a:srgbClr val="1F2733"/>
                </a:solidFill>
                <a:latin typeface="Consolas"/>
              </a:rPr>
              <a:t>4</a:t>
            </a:r>
          </a:p>
          <a:p>
            <a:pPr algn="l">
              <a:lnSpc>
                <a:spcPct val="130000"/>
              </a:lnSpc>
            </a:pPr>
            <a:r>
              <a:rPr sz="2600" b="0" i="0">
                <a:solidFill>
                  <a:srgbClr val="1F2733"/>
                </a:solidFill>
                <a:latin typeface="Consola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PREDICT BEFORE YOU REVEAL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2651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 i="0">
                <a:solidFill>
                  <a:srgbClr val="1E3A72"/>
                </a:solidFill>
                <a:latin typeface="Aptos Display"/>
              </a:rPr>
              <a:t>Is  2 + 3 * 4  equal to</a:t>
            </a:r>
          </a:p>
          <a:p>
            <a:pPr algn="ctr">
              <a:lnSpc>
                <a:spcPct val="115000"/>
              </a:lnSpc>
            </a:pPr>
            <a:r>
              <a:rPr sz="3600" b="1" i="0">
                <a:solidFill>
                  <a:srgbClr val="1E3A72"/>
                </a:solidFill>
                <a:latin typeface="Aptos Display"/>
              </a:rPr>
              <a:t>20, or 14?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ORDER OF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Multiplication Before Addition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640147"/>
            <a:ext cx="5204308" cy="1069848"/>
          </a:xfrm>
          <a:prstGeom prst="roundRect">
            <a:avLst>
              <a:gd name="adj" fmla="val 6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2896179"/>
            <a:ext cx="128016" cy="12801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8" y="3079059"/>
            <a:ext cx="43356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FFFFFF"/>
                </a:solidFill>
                <a:latin typeface="Consolas"/>
              </a:rPr>
              <a:t>print(2 + 3 * 4)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603638"/>
            <a:ext cx="5204308" cy="1568562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4603638"/>
            <a:ext cx="82296" cy="1568562"/>
          </a:xfrm>
          <a:prstGeom prst="rect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749942"/>
            <a:ext cx="46556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647085"/>
                </a:solidFill>
                <a:latin typeface="Aptos"/>
              </a:rPr>
              <a:t>NO PARENTHESES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106558"/>
            <a:ext cx="4655668" cy="9284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F2733"/>
                </a:solidFill>
                <a:latin typeface="Consolas"/>
              </a:rPr>
              <a:t>14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47308" y="2640147"/>
            <a:ext cx="5204308" cy="1069848"/>
          </a:xfrm>
          <a:prstGeom prst="roundRect">
            <a:avLst>
              <a:gd name="adj" fmla="val 6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39916" y="2896179"/>
            <a:ext cx="128016" cy="12801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14236" y="3079059"/>
            <a:ext cx="43356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FFFFFF"/>
                </a:solidFill>
                <a:latin typeface="Consolas"/>
              </a:rPr>
              <a:t>print((2 + 3) * 4)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47308" y="4603638"/>
            <a:ext cx="5204308" cy="1568562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47308" y="4603638"/>
            <a:ext cx="82296" cy="1568562"/>
          </a:xfrm>
          <a:prstGeom prst="rect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67348" y="4749942"/>
            <a:ext cx="46556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647085"/>
                </a:solidFill>
                <a:latin typeface="Aptos"/>
              </a:rPr>
              <a:t>PARENTHESES FORCE ORDER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7348" y="5106558"/>
            <a:ext cx="4655668" cy="9284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F2733"/>
                </a:solidFill>
                <a:latin typeface="Consolas"/>
              </a:rPr>
              <a:t>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NAMING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Expressions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66544"/>
            <a:ext cx="10911535" cy="4105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1" i="0">
                <a:solidFill>
                  <a:srgbClr val="1E3A72"/>
                </a:solidFill>
                <a:latin typeface="Aptos Display"/>
              </a:rPr>
              <a:t>AN EXPRESSION IS ANY</a:t>
            </a:r>
          </a:p>
          <a:p>
            <a:pPr algn="ctr">
              <a:lnSpc>
                <a:spcPct val="115000"/>
              </a:lnSpc>
            </a:pPr>
            <a:r>
              <a:rPr sz="3400" b="1" i="0">
                <a:solidFill>
                  <a:srgbClr val="1E3A72"/>
                </a:solidFill>
                <a:latin typeface="Aptos Display"/>
              </a:rPr>
              <a:t>PIECE OF CODE THAT</a:t>
            </a:r>
          </a:p>
          <a:p>
            <a:pPr algn="ctr">
              <a:lnSpc>
                <a:spcPct val="115000"/>
              </a:lnSpc>
            </a:pPr>
            <a:r>
              <a:rPr sz="3400" b="1" i="0">
                <a:solidFill>
                  <a:srgbClr val="1E3A72"/>
                </a:solidFill>
                <a:latin typeface="Aptos Display"/>
              </a:rPr>
              <a:t>PRODUCES A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ASKING TRUE/FALSE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Comparison Operators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066544"/>
            <a:ext cx="10911535" cy="2217054"/>
          </a:xfrm>
          <a:prstGeom prst="roundRect">
            <a:avLst>
              <a:gd name="adj" fmla="val 6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2322576"/>
            <a:ext cx="128016" cy="12801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8" y="2505456"/>
            <a:ext cx="10042855" cy="428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FFFFFF"/>
                </a:solidFill>
                <a:latin typeface="Consolas"/>
              </a:rPr>
              <a:t>age =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" y="2933990"/>
            <a:ext cx="10042855" cy="428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FFFFFF"/>
                </a:solidFill>
                <a:latin typeface="Consolas"/>
              </a:rPr>
              <a:t>print(age == 18)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3362523"/>
            <a:ext cx="10042855" cy="428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FFFFFF"/>
                </a:solidFill>
                <a:latin typeface="Consolas"/>
              </a:rPr>
              <a:t>print(age &gt; 21)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3791057"/>
            <a:ext cx="10042855" cy="428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FFFFFF"/>
                </a:solidFill>
                <a:latin typeface="Consolas"/>
              </a:rPr>
              <a:t>print(age != 20)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603638"/>
            <a:ext cx="10911535" cy="1568562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4603638"/>
            <a:ext cx="82296" cy="1568562"/>
          </a:xfrm>
          <a:prstGeom prst="rect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749942"/>
            <a:ext cx="103628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647085"/>
                </a:solidFill>
                <a:latin typeface="Aptos"/>
              </a:rP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106558"/>
            <a:ext cx="10362895" cy="9284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0" i="0">
                <a:solidFill>
                  <a:srgbClr val="1F2733"/>
                </a:solidFill>
                <a:latin typeface="Consolas"/>
              </a:rPr>
              <a:t>True</a:t>
            </a:r>
          </a:p>
          <a:p>
            <a:pPr algn="l">
              <a:lnSpc>
                <a:spcPct val="130000"/>
              </a:lnSpc>
            </a:pPr>
            <a:r>
              <a:rPr sz="1900" b="0" i="0">
                <a:solidFill>
                  <a:srgbClr val="1F2733"/>
                </a:solidFill>
                <a:latin typeface="Consolas"/>
              </a:rPr>
              <a:t>False</a:t>
            </a:r>
          </a:p>
          <a:p>
            <a:pPr algn="l">
              <a:lnSpc>
                <a:spcPct val="130000"/>
              </a:lnSpc>
            </a:pPr>
            <a:r>
              <a:rPr sz="1900" b="0" i="0">
                <a:solidFill>
                  <a:srgbClr val="1F2733"/>
                </a:solidFill>
                <a:latin typeface="Consolas"/>
              </a:rPr>
              <a:t>True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THE MOST IMPORTANT CONTRAST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=  vs.  ==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356683"/>
            <a:ext cx="5204308" cy="1636776"/>
          </a:xfrm>
          <a:prstGeom prst="roundRect">
            <a:avLst>
              <a:gd name="adj" fmla="val 6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2612715"/>
            <a:ext cx="128016" cy="12801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8" y="2795595"/>
            <a:ext cx="43356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FFFFFF"/>
                </a:solidFill>
                <a:latin typeface="Consolas"/>
              </a:rPr>
              <a:t>age =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" y="3362523"/>
            <a:ext cx="43356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FFFFFF"/>
                </a:solidFill>
                <a:latin typeface="Consolas"/>
              </a:rPr>
              <a:t>print(age)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603638"/>
            <a:ext cx="5204308" cy="1568562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4603638"/>
            <a:ext cx="82296" cy="1568562"/>
          </a:xfrm>
          <a:prstGeom prst="rect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749942"/>
            <a:ext cx="46556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647085"/>
                </a:solidFill>
                <a:latin typeface="Aptos"/>
              </a:rPr>
              <a:t>ONE = STORES A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106558"/>
            <a:ext cx="4655668" cy="9284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F2733"/>
                </a:solidFill>
                <a:latin typeface="Consolas"/>
              </a:rPr>
              <a:t>18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47308" y="2356683"/>
            <a:ext cx="5204308" cy="1636776"/>
          </a:xfrm>
          <a:prstGeom prst="roundRect">
            <a:avLst>
              <a:gd name="adj" fmla="val 6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39916" y="2612715"/>
            <a:ext cx="128016" cy="12801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14236" y="2795595"/>
            <a:ext cx="43356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FFFFFF"/>
                </a:solidFill>
                <a:latin typeface="Consolas"/>
              </a:rPr>
              <a:t>age = 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14236" y="3362523"/>
            <a:ext cx="43356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FFFFFF"/>
                </a:solidFill>
                <a:latin typeface="Consolas"/>
              </a:rPr>
              <a:t>print(age == 18)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47308" y="4603638"/>
            <a:ext cx="5204308" cy="1568562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7308" y="4603638"/>
            <a:ext cx="82296" cy="1568562"/>
          </a:xfrm>
          <a:prstGeom prst="rect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67348" y="4749942"/>
            <a:ext cx="46556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647085"/>
                </a:solidFill>
                <a:latin typeface="Aptos"/>
              </a:rPr>
              <a:t>TWO == ASKS A QUESTION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7348" y="5106558"/>
            <a:ext cx="4655668" cy="9284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F2733"/>
                </a:solidFill>
                <a:latin typeface="Consolas"/>
              </a:rPr>
              <a:t>True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COMBINING TRUE/FALSE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and, or, not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066544"/>
            <a:ext cx="10911535" cy="2217054"/>
          </a:xfrm>
          <a:prstGeom prst="roundRect">
            <a:avLst>
              <a:gd name="adj" fmla="val 6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2322576"/>
            <a:ext cx="128016" cy="12801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8" y="2505456"/>
            <a:ext cx="10042855" cy="428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 i="0">
                <a:solidFill>
                  <a:srgbClr val="FFFFFF"/>
                </a:solidFill>
                <a:latin typeface="Consolas"/>
              </a:rPr>
              <a:t>age =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" y="2933990"/>
            <a:ext cx="10042855" cy="428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 i="0">
                <a:solidFill>
                  <a:srgbClr val="FFFFFF"/>
                </a:solidFill>
                <a:latin typeface="Consolas"/>
              </a:rPr>
              <a:t>print(age &gt;= 13 and age &lt;= 19)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3362523"/>
            <a:ext cx="10042855" cy="428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 i="0">
                <a:solidFill>
                  <a:srgbClr val="FFFFFF"/>
                </a:solidFill>
                <a:latin typeface="Consolas"/>
              </a:rPr>
              <a:t>print(age &lt; 13 or age &gt; 19)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3791057"/>
            <a:ext cx="10042855" cy="428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 i="0">
                <a:solidFill>
                  <a:srgbClr val="FFFFFF"/>
                </a:solidFill>
                <a:latin typeface="Consolas"/>
              </a:rPr>
              <a:t>print(not (age == 16))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603638"/>
            <a:ext cx="10911535" cy="1568562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4603638"/>
            <a:ext cx="82296" cy="1568562"/>
          </a:xfrm>
          <a:prstGeom prst="rect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749942"/>
            <a:ext cx="103628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647085"/>
                </a:solidFill>
                <a:latin typeface="Aptos"/>
              </a:rP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106558"/>
            <a:ext cx="10362895" cy="9284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1F2733"/>
                </a:solidFill>
                <a:latin typeface="Consolas"/>
              </a:rPr>
              <a:t>True</a:t>
            </a:r>
          </a:p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1F2733"/>
                </a:solidFill>
                <a:latin typeface="Consolas"/>
              </a:rPr>
              <a:t>False</a:t>
            </a:r>
          </a:p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1F2733"/>
                </a:solidFill>
                <a:latin typeface="Consolas"/>
              </a:rPr>
              <a:t>False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A REAL-FEELING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Combining Comparisons and Logic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073219"/>
            <a:ext cx="10911535" cy="2203704"/>
          </a:xfrm>
          <a:prstGeom prst="roundRect">
            <a:avLst>
              <a:gd name="adj" fmla="val 6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2329251"/>
            <a:ext cx="128016" cy="12801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8" y="2512131"/>
            <a:ext cx="1004285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0" i="0">
                <a:solidFill>
                  <a:srgbClr val="FFFFFF"/>
                </a:solidFill>
                <a:latin typeface="Consolas"/>
              </a:rPr>
              <a:t>is_weekend = True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" y="3079059"/>
            <a:ext cx="1004285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0" i="0">
                <a:solidFill>
                  <a:srgbClr val="FFFFFF"/>
                </a:solidFill>
                <a:latin typeface="Consolas"/>
              </a:rPr>
              <a:t>is_raining = False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3645987"/>
            <a:ext cx="1004285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0" i="0">
                <a:solidFill>
                  <a:srgbClr val="FFFFFF"/>
                </a:solidFill>
                <a:latin typeface="Consolas"/>
              </a:rPr>
              <a:t>print(is_weekend and not is_raining)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603638"/>
            <a:ext cx="10911535" cy="1568562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603638"/>
            <a:ext cx="82296" cy="1568562"/>
          </a:xfrm>
          <a:prstGeom prst="rect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749942"/>
            <a:ext cx="103628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647085"/>
                </a:solidFill>
                <a:latin typeface="Aptos"/>
              </a:rPr>
              <a:t>OUTPUT — "is it the weekend AND NOT raining?"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106558"/>
            <a:ext cx="10362895" cy="9284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1F2733"/>
                </a:solidFill>
                <a:latin typeface="Consolas"/>
              </a:rPr>
              <a:t>True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RECONNECTING TO WEEK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LOGIC, Made Literal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346808" y="3204972"/>
            <a:ext cx="7498079" cy="6858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397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46808" y="3204972"/>
            <a:ext cx="7498079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 i="0">
                <a:solidFill>
                  <a:srgbClr val="1E3A72"/>
                </a:solidFill>
                <a:latin typeface="Aptos"/>
              </a:rPr>
              <a:t>LOGIC  (Class 01 — reasoning about a problem)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5848" y="3918204"/>
            <a:ext cx="0" cy="312336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7"/>
          <p:cNvSpPr/>
          <p:nvPr/>
        </p:nvSpPr>
        <p:spPr>
          <a:xfrm rot="10800000">
            <a:off x="6015848" y="4195540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346808" y="4347972"/>
            <a:ext cx="7498079" cy="685800"/>
          </a:xfrm>
          <a:prstGeom prst="roundRect">
            <a:avLst>
              <a:gd name="adj" fmla="val 14000"/>
            </a:avLst>
          </a:prstGeom>
          <a:solidFill>
            <a:srgbClr val="E4F9FB"/>
          </a:solidFill>
          <a:ln w="17780">
            <a:solidFill>
              <a:srgbClr val="9F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46808" y="4347972"/>
            <a:ext cx="7498079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 i="0">
                <a:solidFill>
                  <a:srgbClr val="1E3A72"/>
                </a:solidFill>
                <a:latin typeface="Aptos"/>
              </a:rPr>
              <a:t>OPERATORS &amp; EXPRESSIONS  (today — that reasoning, in code)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THE HERO DIAGRAM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09848" y="1417320"/>
            <a:ext cx="4572000" cy="4064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397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09848" y="1417320"/>
            <a:ext cx="4572000" cy="406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50" b="1" i="0">
                <a:solidFill>
                  <a:srgbClr val="1E3A72"/>
                </a:solidFill>
                <a:latin typeface="Aptos"/>
              </a:rPr>
              <a:t>PROBLEM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5848" y="1851152"/>
            <a:ext cx="0" cy="17696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Isosceles Triangle 5"/>
          <p:cNvSpPr/>
          <p:nvPr/>
        </p:nvSpPr>
        <p:spPr>
          <a:xfrm rot="10800000">
            <a:off x="6015848" y="1833848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09848" y="1986280"/>
            <a:ext cx="4572000" cy="4064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397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09848" y="1986280"/>
            <a:ext cx="4572000" cy="406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50" b="1" i="0">
                <a:solidFill>
                  <a:srgbClr val="1E3A72"/>
                </a:solidFill>
                <a:latin typeface="Aptos"/>
              </a:rPr>
              <a:t>LOGIC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5848" y="2420112"/>
            <a:ext cx="0" cy="17696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10800000">
            <a:off x="6015848" y="2402808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809848" y="2555240"/>
            <a:ext cx="4572000" cy="4064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397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09848" y="2555240"/>
            <a:ext cx="4572000" cy="406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50" b="1" i="0">
                <a:solidFill>
                  <a:srgbClr val="1E3A72"/>
                </a:solidFill>
                <a:latin typeface="Aptos"/>
              </a:rPr>
              <a:t>ALGORITHM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5848" y="2989072"/>
            <a:ext cx="0" cy="17696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10800000">
            <a:off x="6015848" y="2971768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809848" y="3124200"/>
            <a:ext cx="4572000" cy="4064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397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09848" y="3124200"/>
            <a:ext cx="4572000" cy="406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50" b="1" i="0">
                <a:solidFill>
                  <a:srgbClr val="1E3A72"/>
                </a:solidFill>
                <a:latin typeface="Aptos"/>
              </a:rPr>
              <a:t>PYTHON CODE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5848" y="3558032"/>
            <a:ext cx="0" cy="17696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10800000">
            <a:off x="6015848" y="3540728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809848" y="3693160"/>
            <a:ext cx="4572000" cy="4064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397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09848" y="3693160"/>
            <a:ext cx="4572000" cy="406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50" b="1" i="0">
                <a:solidFill>
                  <a:srgbClr val="1E3A72"/>
                </a:solidFill>
                <a:latin typeface="Aptos"/>
              </a:rPr>
              <a:t>VARIABLES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95848" y="4126992"/>
            <a:ext cx="0" cy="17696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10800000">
            <a:off x="6015848" y="4109688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809848" y="4262120"/>
            <a:ext cx="4572000" cy="406400"/>
          </a:xfrm>
          <a:prstGeom prst="roundRect">
            <a:avLst>
              <a:gd name="adj" fmla="val 14000"/>
            </a:avLst>
          </a:prstGeom>
          <a:solidFill>
            <a:srgbClr val="E4F9FB"/>
          </a:solidFill>
          <a:ln w="17780">
            <a:solidFill>
              <a:srgbClr val="9F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09848" y="4262120"/>
            <a:ext cx="4572000" cy="406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50" b="1" i="0">
                <a:solidFill>
                  <a:srgbClr val="1E3A72"/>
                </a:solidFill>
                <a:latin typeface="Aptos"/>
              </a:rPr>
              <a:t>EXPRESSIONS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95848" y="4695952"/>
            <a:ext cx="0" cy="17696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/>
          <p:cNvSpPr/>
          <p:nvPr/>
        </p:nvSpPr>
        <p:spPr>
          <a:xfrm rot="10800000">
            <a:off x="6015848" y="4678648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809848" y="4831080"/>
            <a:ext cx="4572000" cy="4064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397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09848" y="4831080"/>
            <a:ext cx="4572000" cy="406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50" b="1" i="0">
                <a:solidFill>
                  <a:srgbClr val="1E3A72"/>
                </a:solidFill>
                <a:latin typeface="Aptos"/>
              </a:rPr>
              <a:t>RUN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095848" y="5264912"/>
            <a:ext cx="0" cy="17696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10800000">
            <a:off x="6015848" y="5247608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809848" y="5400040"/>
            <a:ext cx="4572000" cy="4064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397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09848" y="5400040"/>
            <a:ext cx="4572000" cy="406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50" b="1" i="0">
                <a:solidFill>
                  <a:srgbClr val="1E3A72"/>
                </a:solidFill>
                <a:latin typeface="Aptos"/>
              </a:rPr>
              <a:t>OUTPUT / RESULT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 i="1">
                <a:solidFill>
                  <a:srgbClr val="647085"/>
                </a:solidFill>
                <a:latin typeface="Aptos"/>
              </a:rPr>
              <a:t>Cyan = new today  ·  Card = already known — and LOGIC finally connects all the way down to EXPRESSIONS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02920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E4F9FB"/>
          </a:solidFill>
          <a:ln w="12700">
            <a:solidFill>
              <a:srgbClr val="9F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 i="0">
                <a:solidFill>
                  <a:srgbClr val="1E3A72"/>
                </a:solidFill>
                <a:latin typeface="Aptos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56692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TRY IT YOURSELF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E3A72"/>
                </a:solidFill>
                <a:latin typeface="Aptos Display"/>
              </a:rPr>
              <a:t>Level Up Your Profile Card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F2733"/>
                </a:solidFill>
                <a:latin typeface="Aptos"/>
              </a:rPr>
              <a:t>Add one arithmetic expression,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17520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F2733"/>
                </a:solidFill>
                <a:latin typeface="Aptos"/>
              </a:rPr>
              <a:t>one comparison, and one logical expression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49040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F2733"/>
                </a:solidFill>
                <a:latin typeface="Aptos"/>
              </a:rPr>
              <a:t>to your Class 06 Profile Card.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617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1">
                <a:solidFill>
                  <a:srgbClr val="647085"/>
                </a:solidFill>
                <a:latin typeface="Aptos"/>
              </a:rPr>
              <a:t>Predict each result before you run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A STARTING POINT (OPTIONAL)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Level Up — Template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066544"/>
            <a:ext cx="10911535" cy="4105656"/>
          </a:xfrm>
          <a:prstGeom prst="roundRect">
            <a:avLst>
              <a:gd name="adj" fmla="val 6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2322576"/>
            <a:ext cx="128016" cy="12801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8" y="2505456"/>
            <a:ext cx="10042855" cy="5146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0" i="0">
                <a:solidFill>
                  <a:srgbClr val="FFFFFF"/>
                </a:solidFill>
                <a:latin typeface="Consolas"/>
              </a:rPr>
              <a:t>age_in_months = age *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" y="3020133"/>
            <a:ext cx="10042855" cy="5146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0" i="0">
                <a:solidFill>
                  <a:srgbClr val="FFFFFF"/>
                </a:solidFill>
                <a:latin typeface="Consolas"/>
              </a:rPr>
              <a:t>is_adult = age &gt;=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3534809"/>
            <a:ext cx="10042855" cy="5146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0" i="0">
                <a:solidFill>
                  <a:srgbClr val="FFFFFF"/>
                </a:solidFill>
                <a:latin typeface="Consolas"/>
              </a:rPr>
              <a:t>is_teenager = age &gt;= 13 and age &lt;= 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4049486"/>
            <a:ext cx="10042855" cy="5146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0" i="0">
                <a:solidFill>
                  <a:srgbClr val="FFFFFF"/>
                </a:solidFill>
                <a:latin typeface="Consolas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4564162"/>
            <a:ext cx="10042855" cy="5146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0" i="0">
                <a:solidFill>
                  <a:srgbClr val="FFFFFF"/>
                </a:solidFill>
                <a:latin typeface="Consolas"/>
              </a:rPr>
              <a:t>print(age_in_months)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5078839"/>
            <a:ext cx="10042855" cy="5146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0" i="0">
                <a:solidFill>
                  <a:srgbClr val="FFFFFF"/>
                </a:solidFill>
                <a:latin typeface="Consolas"/>
              </a:rPr>
              <a:t>print(is_adult)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5593515"/>
            <a:ext cx="10042855" cy="5146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0" i="0">
                <a:solidFill>
                  <a:srgbClr val="FFFFFF"/>
                </a:solidFill>
                <a:latin typeface="Consolas"/>
              </a:rPr>
              <a:t>print(is_teenager)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REFLECT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2651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If you wrote = when you</a:t>
            </a:r>
          </a:p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meant ==, would Python</a:t>
            </a:r>
          </a:p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necessarily tell you?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0" i="1">
                <a:solidFill>
                  <a:srgbClr val="647085"/>
                </a:solidFill>
                <a:latin typeface="Aptos"/>
              </a:rPr>
              <a:t>Often not — that's exactly why this mix-up is so risky.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QUICK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Quick Recap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975104"/>
            <a:ext cx="1589989" cy="9144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75104"/>
            <a:ext cx="158998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1" i="0">
                <a:solidFill>
                  <a:srgbClr val="1E3A72"/>
                </a:solidFill>
                <a:latin typeface="Aptos"/>
              </a:rPr>
              <a:t>OPERATOR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04389" y="1975104"/>
            <a:ext cx="1589989" cy="9144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04389" y="1975104"/>
            <a:ext cx="158998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1" i="0">
                <a:solidFill>
                  <a:srgbClr val="1E3A72"/>
                </a:solidFill>
                <a:latin typeface="Aptos"/>
              </a:rPr>
              <a:t>EXPRESSION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8698" y="1975104"/>
            <a:ext cx="1589989" cy="9144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68698" y="1975104"/>
            <a:ext cx="158998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1" i="0">
                <a:solidFill>
                  <a:srgbClr val="1E3A72"/>
                </a:solidFill>
                <a:latin typeface="Aptos"/>
              </a:rPr>
              <a:t>// AND 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8" y="1975104"/>
            <a:ext cx="1589989" cy="9144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3008" y="1975104"/>
            <a:ext cx="158998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1" i="0">
                <a:solidFill>
                  <a:srgbClr val="1E3A72"/>
                </a:solidFill>
                <a:latin typeface="Aptos"/>
              </a:rPr>
              <a:t>COMPARISON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7317" y="1975104"/>
            <a:ext cx="1589989" cy="9144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7317" y="1975104"/>
            <a:ext cx="158998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1" i="0">
                <a:solidFill>
                  <a:srgbClr val="1E3A72"/>
                </a:solidFill>
                <a:latin typeface="Aptos"/>
              </a:rPr>
              <a:t>= VS ==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61626" y="1975104"/>
            <a:ext cx="1589989" cy="9144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61626" y="1975104"/>
            <a:ext cx="158998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1" i="0">
                <a:solidFill>
                  <a:srgbClr val="1E3A72"/>
                </a:solidFill>
                <a:latin typeface="Aptos"/>
              </a:rPr>
              <a:t>AND / OR / NOT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506724"/>
            <a:ext cx="1203922" cy="1051560"/>
          </a:xfrm>
          <a:prstGeom prst="roundRect">
            <a:avLst>
              <a:gd name="adj" fmla="val 9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813048"/>
            <a:ext cx="120392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1" i="0">
                <a:solidFill>
                  <a:srgbClr val="1E3A72"/>
                </a:solidFill>
                <a:latin typeface="Aptos"/>
              </a:rPr>
              <a:t>PROBLEM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1882018" y="4032504"/>
            <a:ext cx="16848" cy="0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5400000">
            <a:off x="1847018" y="3952504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026882" y="3506724"/>
            <a:ext cx="1203922" cy="1051560"/>
          </a:xfrm>
          <a:prstGeom prst="roundRect">
            <a:avLst>
              <a:gd name="adj" fmla="val 9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26882" y="3813048"/>
            <a:ext cx="120392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1" i="0">
                <a:solidFill>
                  <a:srgbClr val="1E3A72"/>
                </a:solidFill>
                <a:latin typeface="Aptos"/>
              </a:rPr>
              <a:t>LOGIC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3268820" y="4032504"/>
            <a:ext cx="16848" cy="0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3233820" y="3952504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413684" y="3506724"/>
            <a:ext cx="1203922" cy="1051560"/>
          </a:xfrm>
          <a:prstGeom prst="roundRect">
            <a:avLst>
              <a:gd name="adj" fmla="val 9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13684" y="3813048"/>
            <a:ext cx="120392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1" i="0">
                <a:solidFill>
                  <a:srgbClr val="1E3A72"/>
                </a:solidFill>
                <a:latin typeface="Aptos"/>
              </a:rPr>
              <a:t>ALGORITHM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4655622" y="4032504"/>
            <a:ext cx="16848" cy="0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/>
          <p:cNvSpPr/>
          <p:nvPr/>
        </p:nvSpPr>
        <p:spPr>
          <a:xfrm rot="5400000">
            <a:off x="4620622" y="3952504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800486" y="3506724"/>
            <a:ext cx="1203922" cy="1051560"/>
          </a:xfrm>
          <a:prstGeom prst="roundRect">
            <a:avLst>
              <a:gd name="adj" fmla="val 9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00486" y="3813048"/>
            <a:ext cx="120392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1" i="0">
                <a:solidFill>
                  <a:srgbClr val="1E3A72"/>
                </a:solidFill>
                <a:latin typeface="Aptos"/>
              </a:rPr>
              <a:t>PYTHON</a:t>
            </a:r>
          </a:p>
          <a:p>
            <a:pPr algn="ctr">
              <a:lnSpc>
                <a:spcPct val="108000"/>
              </a:lnSpc>
            </a:pPr>
            <a:r>
              <a:rPr sz="950" b="1" i="0">
                <a:solidFill>
                  <a:srgbClr val="1E3A72"/>
                </a:solidFill>
                <a:latin typeface="Aptos"/>
              </a:rPr>
              <a:t>CODE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6042424" y="4032504"/>
            <a:ext cx="16848" cy="0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/>
          <p:cNvSpPr/>
          <p:nvPr/>
        </p:nvSpPr>
        <p:spPr>
          <a:xfrm rot="5400000">
            <a:off x="6007424" y="3952504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187288" y="3506724"/>
            <a:ext cx="1203922" cy="1051560"/>
          </a:xfrm>
          <a:prstGeom prst="roundRect">
            <a:avLst>
              <a:gd name="adj" fmla="val 9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87288" y="3813048"/>
            <a:ext cx="120392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1" i="0">
                <a:solidFill>
                  <a:srgbClr val="1E3A72"/>
                </a:solidFill>
                <a:latin typeface="Aptos"/>
              </a:rPr>
              <a:t>VARIABLES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7429225" y="4032504"/>
            <a:ext cx="16848" cy="0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Isosceles Triangle 35"/>
          <p:cNvSpPr/>
          <p:nvPr/>
        </p:nvSpPr>
        <p:spPr>
          <a:xfrm rot="5400000">
            <a:off x="7394225" y="3952504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574089" y="3506724"/>
            <a:ext cx="1203922" cy="1051560"/>
          </a:xfrm>
          <a:prstGeom prst="roundRect">
            <a:avLst>
              <a:gd name="adj" fmla="val 9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74089" y="3813048"/>
            <a:ext cx="120392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1" i="0">
                <a:solidFill>
                  <a:srgbClr val="1E3A72"/>
                </a:solidFill>
                <a:latin typeface="Aptos"/>
              </a:rPr>
              <a:t>EXPRESSIONS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8816027" y="4032504"/>
            <a:ext cx="16848" cy="0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Isosceles Triangle 39"/>
          <p:cNvSpPr/>
          <p:nvPr/>
        </p:nvSpPr>
        <p:spPr>
          <a:xfrm rot="5400000">
            <a:off x="8781027" y="3952504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960891" y="3506724"/>
            <a:ext cx="1203922" cy="1051560"/>
          </a:xfrm>
          <a:prstGeom prst="roundRect">
            <a:avLst>
              <a:gd name="adj" fmla="val 9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60891" y="3813048"/>
            <a:ext cx="120392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1" i="0">
                <a:solidFill>
                  <a:srgbClr val="1E3A72"/>
                </a:solidFill>
                <a:latin typeface="Aptos"/>
              </a:rPr>
              <a:t>RUN</a:t>
            </a:r>
          </a:p>
        </p:txBody>
      </p:sp>
      <p:cxnSp>
        <p:nvCxnSpPr>
          <p:cNvPr id="43" name="Connector 42"/>
          <p:cNvCxnSpPr/>
          <p:nvPr/>
        </p:nvCxnSpPr>
        <p:spPr>
          <a:xfrm flipH="1">
            <a:off x="10202829" y="4032504"/>
            <a:ext cx="16848" cy="0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Isosceles Triangle 43"/>
          <p:cNvSpPr/>
          <p:nvPr/>
        </p:nvSpPr>
        <p:spPr>
          <a:xfrm rot="5400000">
            <a:off x="10167829" y="3952504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0347693" y="3506724"/>
            <a:ext cx="1203922" cy="1051560"/>
          </a:xfrm>
          <a:prstGeom prst="roundRect">
            <a:avLst>
              <a:gd name="adj" fmla="val 9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47693" y="3813048"/>
            <a:ext cx="120392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1" i="0">
                <a:solidFill>
                  <a:srgbClr val="1E3A72"/>
                </a:solidFill>
                <a:latin typeface="Aptos"/>
              </a:rPr>
              <a:t>OUTPUT/</a:t>
            </a:r>
          </a:p>
          <a:p>
            <a:pPr algn="ctr">
              <a:lnSpc>
                <a:spcPct val="108000"/>
              </a:lnSpc>
            </a:pPr>
            <a:r>
              <a:rPr sz="950" b="1" i="0">
                <a:solidFill>
                  <a:srgbClr val="1E3A72"/>
                </a:solidFill>
                <a:latin typeface="Aptos"/>
              </a:rPr>
              <a:t>RESULT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A QUESTION FOR NEXT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2651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700" b="1" i="0">
                <a:solidFill>
                  <a:srgbClr val="1E3A72"/>
                </a:solidFill>
                <a:latin typeface="Aptos Display"/>
              </a:rPr>
              <a:t>Every comparison and logical result</a:t>
            </a:r>
          </a:p>
          <a:p>
            <a:pPr algn="ctr">
              <a:lnSpc>
                <a:spcPct val="115000"/>
              </a:lnSpc>
            </a:pPr>
            <a:r>
              <a:rPr sz="2700" b="1" i="0">
                <a:solidFill>
                  <a:srgbClr val="1E3A72"/>
                </a:solidFill>
                <a:latin typeface="Aptos Display"/>
              </a:rPr>
              <a:t>just gets printed right now — it doesn't</a:t>
            </a:r>
          </a:p>
          <a:p>
            <a:pPr algn="ctr">
              <a:lnSpc>
                <a:spcPct val="115000"/>
              </a:lnSpc>
            </a:pPr>
            <a:r>
              <a:rPr sz="2700" b="1" i="0">
                <a:solidFill>
                  <a:srgbClr val="1E3A72"/>
                </a:solidFill>
                <a:latin typeface="Aptos Display"/>
              </a:rPr>
              <a:t>change what the program does next.</a:t>
            </a:r>
          </a:p>
          <a:p>
            <a:pPr algn="ctr">
              <a:lnSpc>
                <a:spcPct val="115000"/>
              </a:lnSpc>
            </a:pPr>
            <a:r>
              <a:rPr sz="2700" b="1" i="0">
                <a:solidFill>
                  <a:srgbClr val="1E3A72"/>
                </a:solidFill>
                <a:latin typeface="Aptos Display"/>
              </a:rPr>
              <a:t>What if it needed to?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2788920"/>
            <a:ext cx="914400" cy="54864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2316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2C7E0"/>
                </a:solidFill>
                <a:latin typeface="Aptos"/>
              </a:rPr>
              <a:t>FINAL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71800"/>
            <a:ext cx="107899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Aptos Display"/>
              </a:rPr>
              <a:t>“For six classes, LOGIC was just</a:t>
            </a:r>
          </a:p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Aptos Display"/>
              </a:rPr>
              <a:t>a word on a board. Today, it has a</a:t>
            </a:r>
          </a:p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Aptos Display"/>
              </a:rPr>
              <a:t>shape: operators that compute, compare,</a:t>
            </a:r>
          </a:p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Aptos Display"/>
              </a:rPr>
              <a:t>and combine. Every rule you will ever</a:t>
            </a:r>
          </a:p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Aptos Display"/>
              </a:rPr>
              <a:t>teach a computer to follow starts</a:t>
            </a:r>
          </a:p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Aptos Display"/>
              </a:rPr>
              <a:t>with exactly these tools.”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B82AE"/>
                </a:solidFill>
                <a:latin typeface="Aptos"/>
              </a:rPr>
              <a:t>Bong Study Hub  ·  Foundation Batch 2026  ·  Class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