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Set tone; do not read the slide aloud.</a:t>
            </a:r>
          </a:p>
          <a:p>
            <a:r>
              <a:t>Say: Open with the live 'this line prints no matter what' demonstration (Guide §8) before this slide is even shown, if possible.</a:t>
            </a:r>
          </a:p>
          <a:p>
            <a:r>
              <a:t>Transition: How do we make a program actually behave differently depending on what's true?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 [DO NOT ANSWER YET]</a:t>
            </a:r>
          </a:p>
          <a:p>
            <a:r>
              <a:t>TIME: (closes Guide §8-9)</a:t>
            </a:r>
          </a:p>
          <a:p>
            <a:r>
              <a:t>Purpose: Land the central question after the opening demo and Class 07 callback.</a:t>
            </a:r>
          </a:p>
          <a:p>
            <a:r>
              <a:t>Board: None.</a:t>
            </a:r>
          </a:p>
          <a:p>
            <a:r>
              <a:t>Transition: Let's name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 (Guide §10)</a:t>
            </a:r>
          </a:p>
          <a:p>
            <a:r>
              <a:t>Purpose: Name the fix before showing syntax - a conditional runs a block only if its condition is True.</a:t>
            </a:r>
          </a:p>
          <a:p>
            <a:r>
              <a:t>Ask: What is a conditional, in your own words?</a:t>
            </a:r>
          </a:p>
          <a:p>
            <a:r>
              <a:t>Expected: Code that only runs a block if a condition is true.</a:t>
            </a:r>
          </a:p>
          <a:p>
            <a:r>
              <a:t>Board: None.</a:t>
            </a:r>
          </a:p>
          <a:p>
            <a:r>
              <a:t>Transition: Let's write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[TYPE-ALONG]</a:t>
            </a:r>
          </a:p>
          <a:p>
            <a:r>
              <a:t>TIME: 9 min (Guide §11) — NON-NEGOTIABLE</a:t>
            </a:r>
          </a:p>
          <a:p>
            <a:r>
              <a:t>Purpose: Type this live, run it once as True, then change the value and run again - the single most important moment of the class.</a:t>
            </a:r>
          </a:p>
          <a:p>
            <a:r>
              <a:t>Say: The indented line belongs inside the if. Same code, different data, completely different behavior — that's never happened before in this course.</a:t>
            </a:r>
          </a:p>
          <a:p>
            <a:r>
              <a:t>Ask: Before I run it the second time — what do you think happens?</a:t>
            </a:r>
          </a:p>
          <a:p>
            <a:r>
              <a:t>Expected: Nothing prints — the condition is False.</a:t>
            </a:r>
          </a:p>
          <a:p>
            <a:r>
              <a:t>Board: Live screen.</a:t>
            </a:r>
          </a:p>
          <a:p>
            <a:r>
              <a:t>Transition: Look at that indented line very closely.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[BREAK ON PURPOSE]</a:t>
            </a:r>
          </a:p>
          <a:p>
            <a:r>
              <a:t>TIME: 8 min (Guide §12) — NON-NEGOTIABLE</a:t>
            </a:r>
          </a:p>
          <a:p>
            <a:r>
              <a:t>Purpose: Python uses indentation itself as the syntax that marks a block - not curly braces, not 'end'. Break it on purpose, read the error calmly.</a:t>
            </a:r>
          </a:p>
          <a:p>
            <a:r>
              <a:t>Say: Every line in the same block needs the SAME indentation. Let your editor auto-indent after a colon, and stay consistent.</a:t>
            </a:r>
          </a:p>
          <a:p>
            <a:r>
              <a:t>Ask: What does indentation actually mean in Python?</a:t>
            </a:r>
          </a:p>
          <a:p>
            <a:r>
              <a:t>Expected: It's the syntax that shows which lines belong to a block — not decoration.</a:t>
            </a:r>
          </a:p>
          <a:p>
            <a:r>
              <a:t>Board: Live screen.</a:t>
            </a:r>
          </a:p>
          <a:p>
            <a:r>
              <a:t>Transition: What if we also want something to happen when the condition is false?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[TYPE-ALONG]</a:t>
            </a:r>
          </a:p>
          <a:p>
            <a:r>
              <a:t>TIME: 7 min (Guide §13) — NON-NEGOTIABLE</a:t>
            </a:r>
          </a:p>
          <a:p>
            <a:r>
              <a:t>Purpose: else means 'otherwise' - its block runs only when the if condition was False. It never takes its own condition.</a:t>
            </a:r>
          </a:p>
          <a:p>
            <a:r>
              <a:t>Ask: When does the else block run? Does else ever have its own condition?</a:t>
            </a:r>
          </a:p>
          <a:p>
            <a:r>
              <a:t>Expected: Only when the if condition was False. No — never.</a:t>
            </a:r>
          </a:p>
          <a:p>
            <a:r>
              <a:t>Board: Live screen.</a:t>
            </a:r>
          </a:p>
          <a:p>
            <a:r>
              <a:t>Transition: What if there are more than two possible paths?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9 min (Guide §14) — NON-NEGOTIABLE</a:t>
            </a:r>
          </a:p>
          <a:p>
            <a:r>
              <a:t>Purpose: elif = 'else if' - checked only if every condition above it was False. Re-run with several different ages, predicting each time.</a:t>
            </a:r>
          </a:p>
          <a:p>
            <a:r>
              <a:t>Ask: What does elif stand for? With age = 15, which branch runs?</a:t>
            </a:r>
          </a:p>
          <a:p>
            <a:r>
              <a:t>Expected: Else if. "Teen ticket."</a:t>
            </a:r>
          </a:p>
          <a:p>
            <a:r>
              <a:t>Board: Live screen.</a:t>
            </a:r>
          </a:p>
          <a:p>
            <a:r>
              <a:t>Transition: Let's see exactly what happens when more than one condition would technically be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(opens Guide §15)</a:t>
            </a:r>
          </a:p>
          <a:p>
            <a:r>
              <a:t>Purpose: Let guesses happen before revealing - many will guess 'Pass with Distinction,' since it feels more specific/correct.</a:t>
            </a:r>
          </a:p>
          <a:p>
            <a:r>
              <a:t>Board: None.</a:t>
            </a:r>
          </a:p>
          <a:p>
            <a:r>
              <a:t>Transition: Let's actually run it and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(closes Guide §15)</a:t>
            </a:r>
          </a:p>
          <a:p>
            <a:r>
              <a:t>Purpose: Python checked the first condition, found it True, ran that block, and never even looked at the elif below - even though it was also true.</a:t>
            </a:r>
          </a:p>
          <a:p>
            <a:r>
              <a:t>Say: Order matters. The more specific condition needed to come first.</a:t>
            </a:r>
          </a:p>
          <a:p>
            <a:r>
              <a:t>Board: Live screen.</a:t>
            </a:r>
          </a:p>
          <a:p>
            <a:r>
              <a:t>Transition: Let's bring back last class's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8 min (Guide §16)</a:t>
            </a:r>
          </a:p>
          <a:p>
            <a:r>
              <a:t>Purpose: An if doesn't need anything new here - it just needs a boolean expression, however it's built.</a:t>
            </a:r>
          </a:p>
          <a:p>
            <a:r>
              <a:t>Ask: What kind of value does an if's condition need to be?</a:t>
            </a:r>
          </a:p>
          <a:p>
            <a:r>
              <a:t>Expected: A boolean — True or False.</a:t>
            </a:r>
          </a:p>
          <a:p>
            <a:r>
              <a:t>Board: Live screen.</a:t>
            </a:r>
          </a:p>
          <a:p>
            <a:r>
              <a:t>Transition: Let's step back and look at the three shapes we've built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(Guide §17)</a:t>
            </a:r>
          </a:p>
          <a:p>
            <a:r>
              <a:t>Purpose: Every conditional written today is one of these three shapes - choosing between them is about how many outcomes the problem actually has.</a:t>
            </a:r>
          </a:p>
          <a:p>
            <a:r>
              <a:t>Ask: If a problem has exactly two outcomes, which shape fits? Three or more?</a:t>
            </a:r>
          </a:p>
          <a:p>
            <a:r>
              <a:t>Expected: if/else. if/elif/.../else.</a:t>
            </a:r>
          </a:p>
          <a:p>
            <a:r>
              <a:t>Board: None.</a:t>
            </a:r>
          </a:p>
          <a:p>
            <a:r>
              <a:t>Transition: Let's connect this whole idea to something from Class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 (Guide §18)</a:t>
            </a:r>
          </a:p>
          <a:p>
            <a:r>
              <a:t>Purpose: Class 01's ALGORITHM was always a straight line of steps. Today that picture gets wider.</a:t>
            </a:r>
          </a:p>
          <a:p>
            <a:r>
              <a:t>Ask: How did Class 01 describe an algorithm? What does today add to that picture?</a:t>
            </a:r>
          </a:p>
          <a:p>
            <a:r>
              <a:t>Expected: Steps a person could follow, in order. Algorithms can branch, not just proceed straight through.</a:t>
            </a:r>
          </a:p>
          <a:p>
            <a:r>
              <a:t>Board: None.</a:t>
            </a:r>
          </a:p>
          <a:p>
            <a:r>
              <a:t>Transition: Let's put the entire day's reasoning on one board — starting all the way back at Class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8 min (Guide §19) — NON-NEGOTIABLE, HERO MOMENT</a:t>
            </a:r>
          </a:p>
          <a:p>
            <a:r>
              <a:t>Purpose: Build this top to bottom, one line at a time - never reveal it finished. DECISIONS is the last thing that happens before RUN.</a:t>
            </a:r>
          </a:p>
          <a:p>
            <a:r>
              <a:t>Board: Whiteboard - the one non-screen drawing before the activity.</a:t>
            </a:r>
          </a:p>
          <a:p>
            <a:r>
              <a:t>Transition: Time to try this yourselves.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</a:t>
            </a:r>
          </a:p>
          <a:p>
            <a:r>
              <a:t>TIME: 15 min (Guide §20) — NON-NEGOTIABLE, HERO ACTIVITY</a:t>
            </a:r>
          </a:p>
          <a:p>
            <a:r>
              <a:t>Purpose: Every student extends their own running Profile Card with real branching for the first time. Circulate constantly - check indentation first for any error.</a:t>
            </a:r>
          </a:p>
          <a:p>
            <a:r>
              <a:t>Say: Stuck? What are two different messages that could depend on whether you're a student? What are three age categories you could sort yourself into?</a:t>
            </a:r>
          </a:p>
          <a:p>
            <a:r>
              <a:t>Board: Circulate and read screens rather than calling on students verbally.</a:t>
            </a:r>
          </a:p>
          <a:p>
            <a:r>
              <a:t>Transition: Here's a template if you want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(support for Guide §20)</a:t>
            </a:r>
          </a:p>
          <a:p>
            <a:r>
              <a:t>Purpose: A worked template for students who want a starting point - not the only correct answer, and not required.</a:t>
            </a:r>
          </a:p>
          <a:p>
            <a:r>
              <a:t>Board: None.</a:t>
            </a:r>
          </a:p>
          <a:p>
            <a:r>
              <a:t>Transition: Let a few students share one conditional and both of its outcomes with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(closes Guide §20)</a:t>
            </a:r>
          </a:p>
          <a:p>
            <a:r>
              <a:t>Purpose: Re-confirm Section 11's lesson using the student's own program as the example.</a:t>
            </a:r>
          </a:p>
          <a:p>
            <a:r>
              <a:t>Board: None.</a:t>
            </a:r>
          </a:p>
          <a:p>
            <a:r>
              <a:t>Transition: Let's check a couple of misconceptions before we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5 min (Guide §22) — NON-NEGOTIABLE</a:t>
            </a:r>
          </a:p>
          <a:p>
            <a:r>
              <a:t>Purpose: One visual summary of every keyword and the full bridged chain.</a:t>
            </a:r>
          </a:p>
          <a:p>
            <a:r>
              <a:t>Ask: When does an if block's indented line run? Why does indentation matter? When does else run? If more than one elif condition is true, which one runs? Can a condition use and/or?</a:t>
            </a:r>
          </a:p>
          <a:p>
            <a:r>
              <a:t>Board: None.</a:t>
            </a:r>
          </a:p>
          <a:p>
            <a:r>
              <a:t>Transition: One question to leave you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 NOT ANSWER]</a:t>
            </a:r>
          </a:p>
          <a:p>
            <a:r>
              <a:t>TIME: (Guide §23)</a:t>
            </a:r>
          </a:p>
          <a:p>
            <a:r>
              <a:t>Purpose: Leave this open as a deliberate hook into Class 09 (Repetition: while and for Loops).</a:t>
            </a:r>
          </a:p>
          <a:p>
            <a:r>
              <a:t>Board: None.</a:t>
            </a:r>
          </a:p>
          <a:p>
            <a:r>
              <a:t>Transition: Class ends on the final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Close the class on this exact line, said slowly.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Making Decisions: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if / elif /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The First Code That “Thinks” Before Acting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How do we make a program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actually behave differently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depending on what's true?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NAMING 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Is a Conditional?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724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5400" b="1" i="0">
                <a:solidFill>
                  <a:srgbClr val="1E3A72"/>
                </a:solidFill>
                <a:latin typeface="Aptos Display"/>
              </a:rPr>
              <a:t>CONDITIONAL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955146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83746"/>
            <a:ext cx="10911535" cy="1824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RUNS A BLOCK OF CODE</a:t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1F2733"/>
                </a:solidFill>
                <a:latin typeface="Aptos"/>
              </a:rPr>
              <a:t>ONLY IF A CONDITION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SAME CODE, TWO BEHAVIORS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Your First if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5204308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89304" y="2176272"/>
            <a:ext cx="0" cy="1997598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8" y="2505456"/>
            <a:ext cx="4335628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is_raining =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933990"/>
            <a:ext cx="4335628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362523"/>
            <a:ext cx="4335628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if is_raining: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791057"/>
            <a:ext cx="4006444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print("Bring an umbrella!")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is_raining =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733"/>
                </a:solidFill>
                <a:latin typeface="Consolas"/>
              </a:rPr>
              <a:t>Bring an umbrella!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7308" y="2066544"/>
            <a:ext cx="5204308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39916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996532" y="2176272"/>
            <a:ext cx="0" cy="1997598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14236" y="2505456"/>
            <a:ext cx="4335628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is_raining = False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4236" y="2933990"/>
            <a:ext cx="4335628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4236" y="3362523"/>
            <a:ext cx="4335628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if is_raining: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3420" y="3791057"/>
            <a:ext cx="4006444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print("Bring an umbrella!")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is_raining =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733"/>
                </a:solidFill>
                <a:latin typeface="Consolas"/>
              </a:rPr>
              <a:t>(nothing prints)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BREAK IT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Indentation: Not Just Style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89304" y="2466411"/>
            <a:ext cx="0" cy="1417320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8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if is_raining: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3362523"/>
            <a:ext cx="40064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print("Bring an umbrella!")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CORRECTLY INDENTED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733"/>
                </a:solidFill>
                <a:latin typeface="Consolas"/>
              </a:rPr>
              <a:t>Bring an umbrella!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7308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39916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4236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if is_raining: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4236" y="3362523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print("Bring an umbrella!")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FCECEC"/>
          </a:solidFill>
          <a:ln w="15875">
            <a:solidFill>
              <a:srgbClr val="EE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B83A3A"/>
                </a:solidFill>
                <a:latin typeface="Aptos"/>
              </a:rPr>
              <a:t>MISSING INDENT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3A3A"/>
                </a:solidFill>
                <a:latin typeface="Consolas"/>
              </a:rPr>
              <a:t>IndentationError: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3A3A"/>
                </a:solidFill>
                <a:latin typeface="Consolas"/>
              </a:rPr>
              <a:t>expected an indented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EXACTLY ONE OF TWO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else: The Otherwise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5204308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89304" y="2176272"/>
            <a:ext cx="0" cy="1997598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8" y="2505456"/>
            <a:ext cx="4335628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is_raining =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48283"/>
            <a:ext cx="4335628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if is_raining: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191110"/>
            <a:ext cx="4006444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print("Umbrella!")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533937"/>
            <a:ext cx="4335628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else: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876763"/>
            <a:ext cx="4006444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print("Sunshine!")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is_raining = 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733"/>
                </a:solidFill>
                <a:latin typeface="Consolas"/>
              </a:rPr>
              <a:t>Sunshine!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7308" y="2066544"/>
            <a:ext cx="5204308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39916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996532" y="2176272"/>
            <a:ext cx="0" cy="1997598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14236" y="2505456"/>
            <a:ext cx="4335628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is_raining =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4236" y="2848283"/>
            <a:ext cx="4335628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if is_raining: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3420" y="3191110"/>
            <a:ext cx="4006444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print("Umbrella!")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4236" y="3533937"/>
            <a:ext cx="4335628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else: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3420" y="3876763"/>
            <a:ext cx="4006444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print("Sunshine!")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is_raining = 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733"/>
                </a:solidFill>
                <a:latin typeface="Consolas"/>
              </a:rPr>
              <a:t>Umbrella!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BUILDING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elif: More Than Two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364845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89304" y="2176272"/>
            <a:ext cx="0" cy="3429000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8" y="2505456"/>
            <a:ext cx="10042855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age =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20010"/>
            <a:ext cx="10042855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34563"/>
            <a:ext cx="10042855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if age &lt; 13: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49117"/>
            <a:ext cx="9713671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print("Child ticket")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763670"/>
            <a:ext cx="10042855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elif age &lt; 20: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078224"/>
            <a:ext cx="9713671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print("Teen ticket")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392778"/>
            <a:ext cx="10042855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elif age &lt; 65: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4707331"/>
            <a:ext cx="9713671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print("Adult ticket")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5021885"/>
            <a:ext cx="10042855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else: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5336438"/>
            <a:ext cx="9713671" cy="3145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print("Senior ticket")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With age = 15 → "Teen ticket" prints. Change age and re-run to see the other branches.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PREDICT BEFORE YOU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score is 95 — that's true for BOTH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conditions below. Which message</a:t>
            </a:r>
          </a:p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E3A72"/>
                </a:solidFill>
                <a:latin typeface="Aptos Display"/>
              </a:rPr>
              <a:t>prints?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if score &gt;= 60: "Pass"   ·   elif score &gt;= 90: "Pass with Distinction"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ORDER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Only the First True Branch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89304" y="2176272"/>
            <a:ext cx="0" cy="1997598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8" y="2505456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score = 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791145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076834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if score &gt;= 60: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362523"/>
            <a:ext cx="9713671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print("Pass")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648212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elif score &gt;= 90: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933901"/>
            <a:ext cx="9713671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print("Pass with Distinction")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 — the elif below is never even checked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1F2733"/>
                </a:solidFill>
                <a:latin typeface="Consolas"/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REUSING CLASS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Comparisons and Logic Inside a Condition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89304" y="2176272"/>
            <a:ext cx="0" cy="1997598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8" y="2505456"/>
            <a:ext cx="10042855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age =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48283"/>
            <a:ext cx="10042855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is_student =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91110"/>
            <a:ext cx="10042855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533937"/>
            <a:ext cx="10042855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if age &gt;= 13 and age &lt;= 19 and is_student: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876763"/>
            <a:ext cx="9713671" cy="342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FFFFFF"/>
                </a:solidFill>
                <a:latin typeface="Consolas"/>
              </a:rPr>
              <a:t>print("Eligible for the student teen discount!")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F2733"/>
                </a:solidFill>
                <a:latin typeface="Consolas"/>
              </a:rPr>
              <a:t>Eligible for the student teen discount!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THREE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Common Structure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387852"/>
            <a:ext cx="3332378" cy="14630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26764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IF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10812"/>
            <a:ext cx="33323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647085"/>
                </a:solidFill>
                <a:latin typeface="Aptos"/>
              </a:rPr>
              <a:t>do something, or nothing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7322" y="4119372"/>
            <a:ext cx="25747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4249794" y="40393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9658" y="3387852"/>
            <a:ext cx="3332378" cy="14630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3826764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IF / ELSE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4210812"/>
            <a:ext cx="33323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647085"/>
                </a:solidFill>
                <a:latin typeface="Aptos"/>
              </a:rPr>
              <a:t>exactly one of two paths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6901" y="4119372"/>
            <a:ext cx="257472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8039373" y="40393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9237" y="3387852"/>
            <a:ext cx="3332378" cy="146304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9237" y="3826764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1E3A72"/>
                </a:solidFill>
                <a:latin typeface="Aptos"/>
              </a:rPr>
              <a:t>IF / ELIF / 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9237" y="4210812"/>
            <a:ext cx="33323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0">
                <a:solidFill>
                  <a:srgbClr val="647085"/>
                </a:solidFill>
                <a:latin typeface="Aptos"/>
              </a:rPr>
              <a:t>exactly one of several paths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RECONNECTING TO CLASS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Algorithms Can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6728" y="3204972"/>
            <a:ext cx="877824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06728" y="3204972"/>
            <a:ext cx="8778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ALGORITHM  (Class 01 — imagined as a straight line)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3918204"/>
            <a:ext cx="0" cy="31233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41955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06728" y="4347972"/>
            <a:ext cx="8778240" cy="685800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6728" y="4347972"/>
            <a:ext cx="8778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72"/>
                </a:solidFill>
                <a:latin typeface="Aptos"/>
              </a:rPr>
              <a:t>ALGORITHMS CAN BRANCH  (today — different paths for different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HERO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55568" y="1417320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55568" y="1417320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095848" y="1803372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0800000">
            <a:off x="6015848" y="1768372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55568" y="1920804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5568" y="1920804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5848" y="2306857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15848" y="2271857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55568" y="2424289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5568" y="2424289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5848" y="2810341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277534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55568" y="2927773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5568" y="2927773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PYTHON CODE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95848" y="3313826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15848" y="3278826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55568" y="3431258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5568" y="3431258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VARIABLES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95848" y="3817310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6015848" y="378231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55568" y="3934742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5568" y="3934742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EXPRESSIONS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95848" y="4320795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15848" y="4285795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55568" y="4438227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568" y="4438227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DECISIONS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095848" y="4824279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0800000">
            <a:off x="6015848" y="478927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55568" y="4941711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5568" y="4941711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095848" y="5327764"/>
            <a:ext cx="0" cy="2624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0800000">
            <a:off x="6015848" y="52927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55568" y="5445196"/>
            <a:ext cx="4480560" cy="361244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5568" y="5445196"/>
            <a:ext cx="4480560" cy="361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 i="0">
                <a:solidFill>
                  <a:srgbClr val="1E3A72"/>
                </a:solidFill>
                <a:latin typeface="Aptos"/>
              </a:rPr>
              <a:t>OUTPUT /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Cyan = new today  ·  DECISIONS sits right above RUN — it decides which version of the program actually happens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Your Profile Card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Add an if/else using is_student,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and an if/elif/else chain using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with at least three branches.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Change one value and re-run — confirm a different branch executes.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STARTING POINT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Profile Card Decides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410565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89304" y="2176272"/>
            <a:ext cx="0" cy="3886200"/>
          </a:xfrm>
          <a:prstGeom prst="line">
            <a:avLst/>
          </a:prstGeom>
          <a:ln w="15875">
            <a:solidFill>
              <a:srgbClr val="3B57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07008" y="2505456"/>
            <a:ext cx="10042855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if is_student: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832977"/>
            <a:ext cx="9713671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print("Time to study!")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60499"/>
            <a:ext cx="10042855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else: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88020"/>
            <a:ext cx="9713671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print("Time to relax!")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815542"/>
            <a:ext cx="10042855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143063"/>
            <a:ext cx="10042855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if age &lt; 13: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4470585"/>
            <a:ext cx="9713671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print("Category: Child")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798106"/>
            <a:ext cx="10042855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elif age &lt; 20: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5125628"/>
            <a:ext cx="9713671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print("Category: Teen")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5453149"/>
            <a:ext cx="10042855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else: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5780671"/>
            <a:ext cx="9713671" cy="3275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print("Category: Adult")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changed when you edited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one variable and ran your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program again?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A different branch executed — same code, new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Quick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E3A72"/>
                </a:solidFill>
                <a:latin typeface="Aptos"/>
              </a:rPr>
              <a:t>CONDITIONAL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389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4389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E3A72"/>
                </a:solidFill>
                <a:latin typeface="Aptos"/>
              </a:rPr>
              <a:t>INDENTATION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E3A72"/>
                </a:solidFill>
                <a:latin typeface="Aptos"/>
              </a:rPr>
              <a:t>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E3A72"/>
                </a:solidFill>
                <a:latin typeface="Aptos"/>
              </a:rPr>
              <a:t>ELIF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7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7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E3A72"/>
                </a:solidFill>
                <a:latin typeface="Aptos"/>
              </a:rPr>
              <a:t>ELSE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1626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1626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E3A72"/>
                </a:solidFill>
                <a:latin typeface="Aptos"/>
              </a:rPr>
              <a:t>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725897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1690897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70761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0761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956578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2921578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1442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1442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187258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152258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32122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2122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PYTHON</a:t>
            </a:r>
          </a:p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CODE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417939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5382939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562803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62803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VARIABLES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648620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6613620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93484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3484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EXPRESSIONS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879301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7844301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24165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4165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DECISIONS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9109981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074981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54845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54845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0340662" y="4032504"/>
            <a:ext cx="35136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10305662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485526" y="3506724"/>
            <a:ext cx="1066089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85526" y="3813048"/>
            <a:ext cx="10660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OUTPUT/</a:t>
            </a:r>
          </a:p>
          <a:p>
            <a:pPr algn="ctr">
              <a:lnSpc>
                <a:spcPct val="108000"/>
              </a:lnSpc>
            </a:pPr>
            <a:r>
              <a:rPr sz="869" b="1" i="0">
                <a:solidFill>
                  <a:srgbClr val="1E3A72"/>
                </a:solidFill>
                <a:latin typeface="Aptos"/>
              </a:rPr>
              <a:t>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QUESTION FOR NEXT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Right now, every decision only runs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once. What if a program needed to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make the same decision — or repeat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the same action — over and 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788920"/>
            <a:ext cx="91440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“Every program before today ran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the same way, every single time. Today,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for the first time, your code actually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thinks before it acts — it looks at its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own data and chooses a path.”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